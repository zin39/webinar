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</p:sldIdLst>
  <p:sldSz cy="5143500" cx="9144000"/>
  <p:notesSz cx="5143500" cy="9144000"/>
  <p:embeddedFontLst>
    <p:embeddedFont>
      <p:font typeface="Inter"/>
      <p:bold r:id="rId36"/>
      <p:boldItalic r:id="rId37"/>
    </p:embeddedFont>
    <p:embeddedFont>
      <p:font typeface="Alice"/>
      <p:regular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font" Target="fonts/Inter-boldItalic.fntdata"/><Relationship Id="rId14" Type="http://schemas.openxmlformats.org/officeDocument/2006/relationships/slide" Target="slides/slide10.xml"/><Relationship Id="rId36" Type="http://schemas.openxmlformats.org/officeDocument/2006/relationships/font" Target="fonts/Inter-bold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38" Type="http://schemas.openxmlformats.org/officeDocument/2006/relationships/font" Target="fonts/Alice-regular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aa74644f30_0_12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g3aa74644f30_0_12:notes"/>
          <p:cNvSpPr/>
          <p:nvPr>
            <p:ph idx="2" type="sldImg"/>
          </p:nvPr>
        </p:nvSpPr>
        <p:spPr>
          <a:xfrm>
            <a:off x="857419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aa74644f30_0_105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g3aa74644f30_0_105:notes"/>
          <p:cNvSpPr/>
          <p:nvPr>
            <p:ph idx="2" type="sldImg"/>
          </p:nvPr>
        </p:nvSpPr>
        <p:spPr>
          <a:xfrm>
            <a:off x="857419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aa74644f30_0_134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g3aa74644f30_0_134:notes"/>
          <p:cNvSpPr/>
          <p:nvPr>
            <p:ph idx="2" type="sldImg"/>
          </p:nvPr>
        </p:nvSpPr>
        <p:spPr>
          <a:xfrm>
            <a:off x="857419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aa74644f30_0_146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g3aa74644f30_0_146:notes"/>
          <p:cNvSpPr/>
          <p:nvPr>
            <p:ph idx="2" type="sldImg"/>
          </p:nvPr>
        </p:nvSpPr>
        <p:spPr>
          <a:xfrm>
            <a:off x="857419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aa74644f30_0_169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g3aa74644f30_0_169:notes"/>
          <p:cNvSpPr/>
          <p:nvPr>
            <p:ph idx="2" type="sldImg"/>
          </p:nvPr>
        </p:nvSpPr>
        <p:spPr>
          <a:xfrm>
            <a:off x="857419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aa74644f30_0_186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g3aa74644f30_0_186:notes"/>
          <p:cNvSpPr/>
          <p:nvPr>
            <p:ph idx="2" type="sldImg"/>
          </p:nvPr>
        </p:nvSpPr>
        <p:spPr>
          <a:xfrm>
            <a:off x="857419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aa74644f30_0_212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g3aa74644f30_0_212:notes"/>
          <p:cNvSpPr/>
          <p:nvPr>
            <p:ph idx="2" type="sldImg"/>
          </p:nvPr>
        </p:nvSpPr>
        <p:spPr>
          <a:xfrm>
            <a:off x="857419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2" name="Google Shape;53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2" name="Google Shape;55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1" name="Google Shape;58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9" name="Google Shape;59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7" name="Google Shape;62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1" name="Google Shape;651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6" name="Google Shape;666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4" name="Google Shape;684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 sz="700"/>
            </a:lvl1pPr>
            <a:lvl2pPr indent="0" lvl="1" marL="0" algn="r">
              <a:spcBef>
                <a:spcPts val="0"/>
              </a:spcBef>
              <a:buNone/>
              <a:defRPr sz="700"/>
            </a:lvl2pPr>
            <a:lvl3pPr indent="0" lvl="2" marL="0" algn="r">
              <a:spcBef>
                <a:spcPts val="0"/>
              </a:spcBef>
              <a:buNone/>
              <a:defRPr sz="700"/>
            </a:lvl3pPr>
            <a:lvl4pPr indent="0" lvl="3" marL="0" algn="r">
              <a:spcBef>
                <a:spcPts val="0"/>
              </a:spcBef>
              <a:buNone/>
              <a:defRPr sz="700"/>
            </a:lvl4pPr>
            <a:lvl5pPr indent="0" lvl="4" marL="0" algn="r">
              <a:spcBef>
                <a:spcPts val="0"/>
              </a:spcBef>
              <a:buNone/>
              <a:defRPr sz="700"/>
            </a:lvl5pPr>
            <a:lvl6pPr indent="0" lvl="5" marL="0" algn="r">
              <a:spcBef>
                <a:spcPts val="0"/>
              </a:spcBef>
              <a:buNone/>
              <a:defRPr sz="700"/>
            </a:lvl6pPr>
            <a:lvl7pPr indent="0" lvl="6" marL="0" algn="r">
              <a:spcBef>
                <a:spcPts val="0"/>
              </a:spcBef>
              <a:buNone/>
              <a:defRPr sz="700"/>
            </a:lvl7pPr>
            <a:lvl8pPr indent="0" lvl="7" marL="0" algn="r">
              <a:spcBef>
                <a:spcPts val="0"/>
              </a:spcBef>
              <a:buNone/>
              <a:defRPr sz="700"/>
            </a:lvl8pPr>
            <a:lvl9pPr indent="0" lvl="8" marL="0" algn="r">
              <a:spcBef>
                <a:spcPts val="0"/>
              </a:spcBef>
              <a:buNone/>
              <a:defRPr sz="7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21.png"/><Relationship Id="rId5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jpg"/><Relationship Id="rId4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1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2.png"/><Relationship Id="rId4" Type="http://schemas.openxmlformats.org/officeDocument/2006/relationships/image" Target="../media/image2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3754785" y="861268"/>
            <a:ext cx="1634430" cy="339030"/>
          </a:xfrm>
          <a:prstGeom prst="roundRect">
            <a:avLst>
              <a:gd fmla="val 56190" name="adj"/>
            </a:avLst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4"/>
          <p:cNvSpPr/>
          <p:nvPr/>
        </p:nvSpPr>
        <p:spPr>
          <a:xfrm>
            <a:off x="3971612" y="937468"/>
            <a:ext cx="1200775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LIVE WEBINAR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2361724" y="1505099"/>
            <a:ext cx="4420553" cy="4799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Student Mental Health: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2202482" y="2213670"/>
            <a:ext cx="47388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Thriving Beyond Grades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3392325" y="2994725"/>
            <a:ext cx="2587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विद्यार्थी मानसिक स्वास्थ्य: ग्रेड भन्दा</a:t>
            </a:r>
            <a:r>
              <a:rPr lang="en-US" sz="1350">
                <a:solidFill>
                  <a:srgbClr val="FFFFFF"/>
                </a:solidFill>
              </a:rPr>
              <a:t> </a:t>
            </a:r>
            <a:r>
              <a:rPr b="0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पर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2840669" y="3806130"/>
            <a:ext cx="3462513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📅 November 30, 2025 | 6:00 PM NST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2840669" y="4057501"/>
            <a:ext cx="3462513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Organized by NHAFN Mental Health Leadership Program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381000" y="228600"/>
            <a:ext cx="428453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Welcome! स्वागत छ! 🙏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381000" y="1082350"/>
            <a:ext cx="4076700" cy="3171300"/>
          </a:xfrm>
          <a:prstGeom prst="roundRect">
            <a:avLst>
              <a:gd fmla="val 5537" name="adj"/>
            </a:avLst>
          </a:prstGeom>
          <a:solidFill>
            <a:srgbClr val="E3F2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" name="Google Shape;34;p5"/>
          <p:cNvCxnSpPr/>
          <p:nvPr/>
        </p:nvCxnSpPr>
        <p:spPr>
          <a:xfrm>
            <a:off x="404813" y="1644402"/>
            <a:ext cx="0" cy="2064246"/>
          </a:xfrm>
          <a:prstGeom prst="straightConnector1">
            <a:avLst/>
          </a:prstGeom>
          <a:noFill/>
          <a:ln cap="flat" cmpd="sng" w="476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" name="Google Shape;35;p5"/>
          <p:cNvSpPr/>
          <p:nvPr/>
        </p:nvSpPr>
        <p:spPr>
          <a:xfrm>
            <a:off x="458950" y="1375552"/>
            <a:ext cx="3720900" cy="1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050"/>
              <a:buFont typeface="Arial"/>
              <a:buNone/>
            </a:pPr>
            <a:r>
              <a:rPr b="1" i="0" lang="en-US" sz="1550" u="none" cap="none" strike="noStrike">
                <a:solidFill>
                  <a:srgbClr val="1E3A5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TODAY'S AGENDA</a:t>
            </a:r>
            <a:endParaRPr b="1" i="0" sz="155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619125" y="2135832"/>
            <a:ext cx="3721037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🧠 Understanding Mental Health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619125" y="2366218"/>
            <a:ext cx="3721037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💡 Practical Coping Strategies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619125" y="2596604"/>
            <a:ext cx="3721037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🏫 School &amp; Family Perspective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619125" y="2826990"/>
            <a:ext cx="3721037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🧘 Interactive Breathing Exercise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619125" y="3057376"/>
            <a:ext cx="3721037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❓ Q&amp;A with Expert Panel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619125" y="3287762"/>
            <a:ext cx="3721037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📋 Resources &amp; Next Steps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4686300" y="1856482"/>
            <a:ext cx="4076700" cy="1639937"/>
          </a:xfrm>
          <a:prstGeom prst="roundRect">
            <a:avLst>
              <a:gd fmla="val 6970" name="adj"/>
            </a:avLst>
          </a:prstGeom>
          <a:solidFill>
            <a:srgbClr val="FFF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" name="Google Shape;43;p5"/>
          <p:cNvCxnSpPr/>
          <p:nvPr/>
        </p:nvCxnSpPr>
        <p:spPr>
          <a:xfrm>
            <a:off x="4710113" y="1856482"/>
            <a:ext cx="0" cy="1639937"/>
          </a:xfrm>
          <a:prstGeom prst="straightConnector1">
            <a:avLst/>
          </a:prstGeom>
          <a:noFill/>
          <a:ln cap="flat" cmpd="sng" w="47625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5"/>
          <p:cNvSpPr/>
          <p:nvPr/>
        </p:nvSpPr>
        <p:spPr>
          <a:xfrm>
            <a:off x="4924425" y="2046982"/>
            <a:ext cx="3721037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YOUR HOST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4790950" y="2328851"/>
            <a:ext cx="37209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333333"/>
                </a:solidFill>
              </a:rPr>
              <a:t>Dr. Aditi Pajiyar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4924425" y="2637383"/>
            <a:ext cx="3721037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NHAFN Mental Health Fellow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4924425" y="2963019"/>
            <a:ext cx="372103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Passionate about breaking mental health stigma and empowering young people with knowledge and tools for </a:t>
            </a:r>
            <a:r>
              <a:rPr lang="en-US" sz="900">
                <a:solidFill>
                  <a:srgbClr val="666666"/>
                </a:solidFill>
              </a:rPr>
              <a:t>well-being.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381000" y="4743450"/>
            <a:ext cx="854964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National Health Action Force Nepal (NHAFN) | Mental Health Leadership Program 2025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"/>
          <p:cNvSpPr/>
          <p:nvPr/>
        </p:nvSpPr>
        <p:spPr>
          <a:xfrm>
            <a:off x="381000" y="228600"/>
            <a:ext cx="428453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House Rules 📋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381000" y="1907977"/>
            <a:ext cx="1981200" cy="1268611"/>
          </a:xfrm>
          <a:prstGeom prst="roundRect">
            <a:avLst>
              <a:gd fmla="val 9010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555498" y="2098477"/>
            <a:ext cx="1632204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📷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555498" y="2601367"/>
            <a:ext cx="1632204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Camera Optional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555498" y="2826097"/>
            <a:ext cx="1632204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तपाईंको comfort अनुसार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2514600" y="1907977"/>
            <a:ext cx="1981200" cy="1268611"/>
          </a:xfrm>
          <a:prstGeom prst="roundRect">
            <a:avLst>
              <a:gd fmla="val 9010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2689098" y="2098477"/>
            <a:ext cx="1632204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💬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2689098" y="2601367"/>
            <a:ext cx="1632204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Use the Chat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2689098" y="2826097"/>
            <a:ext cx="1632204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666666"/>
                </a:solidFill>
              </a:rPr>
              <a:t>Questions are</a:t>
            </a: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welcome anytime!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4648200" y="1907977"/>
            <a:ext cx="1981200" cy="1268611"/>
          </a:xfrm>
          <a:prstGeom prst="roundRect">
            <a:avLst>
              <a:gd fmla="val 9010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4822698" y="2098477"/>
            <a:ext cx="1632204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🤝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4822698" y="2601367"/>
            <a:ext cx="1632204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Confidentiality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4822698" y="2826097"/>
            <a:ext cx="1632204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What's shared here, stays here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6781800" y="1907977"/>
            <a:ext cx="1981200" cy="1268611"/>
          </a:xfrm>
          <a:prstGeom prst="roundRect">
            <a:avLst>
              <a:gd fmla="val 9010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6956298" y="2098477"/>
            <a:ext cx="1632204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🎥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6956298" y="2601367"/>
            <a:ext cx="1632204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Recording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6956298" y="2826097"/>
            <a:ext cx="1632204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Will be shared on YouTube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381000" y="4513064"/>
            <a:ext cx="8382000" cy="401836"/>
          </a:xfrm>
          <a:prstGeom prst="roundRect">
            <a:avLst>
              <a:gd fmla="val 18963" name="adj"/>
            </a:avLst>
          </a:prstGeom>
          <a:solidFill>
            <a:srgbClr val="FFEB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491490" y="4627364"/>
            <a:ext cx="8161020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D32F2F"/>
                </a:solidFill>
                <a:latin typeface="Arial"/>
                <a:ea typeface="Arial"/>
                <a:cs typeface="Arial"/>
                <a:sym typeface="Arial"/>
              </a:rPr>
              <a:t>⚠️ This is an awareness session, not a substitute for professional help. If you're in crisis, please reach out to a professional.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7"/>
          <p:cNvSpPr/>
          <p:nvPr/>
        </p:nvSpPr>
        <p:spPr>
          <a:xfrm>
            <a:off x="4008349" y="895499"/>
            <a:ext cx="1127302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QUICK POLL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2028362" y="1413570"/>
            <a:ext cx="5087127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brings you here today?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7"/>
          <p:cNvSpPr/>
          <p:nvPr/>
        </p:nvSpPr>
        <p:spPr>
          <a:xfrm>
            <a:off x="3170270" y="1977425"/>
            <a:ext cx="2478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0" i="0" lang="en-US" sz="1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आज तपाईं किन यहाँ हुनुहुन्छ?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914400" y="2701230"/>
            <a:ext cx="1714500" cy="940891"/>
          </a:xfrm>
          <a:prstGeom prst="roundRect">
            <a:avLst>
              <a:gd fmla="val 12148" name="adj"/>
            </a:avLst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1130427" y="2853630"/>
            <a:ext cx="1282446" cy="373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📚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1130427" y="3303091"/>
            <a:ext cx="1282446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I'm a Student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2781300" y="2701230"/>
            <a:ext cx="1714500" cy="940891"/>
          </a:xfrm>
          <a:prstGeom prst="roundRect">
            <a:avLst>
              <a:gd fmla="val 12148" name="adj"/>
            </a:avLst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2997327" y="2853630"/>
            <a:ext cx="1282446" cy="373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👨‍👩‍👧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2997327" y="3303091"/>
            <a:ext cx="1282446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I'm a Parent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4648200" y="2701230"/>
            <a:ext cx="1714500" cy="940891"/>
          </a:xfrm>
          <a:prstGeom prst="roundRect">
            <a:avLst>
              <a:gd fmla="val 12148" name="adj"/>
            </a:avLst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4864227" y="2853630"/>
            <a:ext cx="1282446" cy="373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👩‍🏫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4864227" y="3303091"/>
            <a:ext cx="1282446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I'm a Teacher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6515100" y="2701230"/>
            <a:ext cx="1714500" cy="940891"/>
          </a:xfrm>
          <a:prstGeom prst="roundRect">
            <a:avLst>
              <a:gd fmla="val 12148" name="adj"/>
            </a:avLst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6731127" y="2853630"/>
            <a:ext cx="1282446" cy="373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🤔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6731127" y="3303091"/>
            <a:ext cx="1282446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Just Curious!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3128352" y="4040925"/>
            <a:ext cx="2782800" cy="1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Drop your answer in the chat! 💬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8"/>
          <p:cNvSpPr/>
          <p:nvPr/>
        </p:nvSpPr>
        <p:spPr>
          <a:xfrm>
            <a:off x="381000" y="228600"/>
            <a:ext cx="489661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Meet Our Expert Speakers 👨‍⚕️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gradient-f03a507e.png" id="100" name="Google Shape;10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1831777"/>
            <a:ext cx="2667000" cy="2165598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8"/>
          <p:cNvSpPr/>
          <p:nvPr/>
        </p:nvSpPr>
        <p:spPr>
          <a:xfrm>
            <a:off x="587502" y="2465115"/>
            <a:ext cx="22539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E3A5F"/>
                </a:solidFill>
              </a:rPr>
              <a:t>Dr Amit Jha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8"/>
          <p:cNvSpPr/>
          <p:nvPr/>
        </p:nvSpPr>
        <p:spPr>
          <a:xfrm>
            <a:off x="587402" y="2868035"/>
            <a:ext cx="2253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Child &amp; Adolescent Psychiatrist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8"/>
          <p:cNvSpPr/>
          <p:nvPr/>
        </p:nvSpPr>
        <p:spPr>
          <a:xfrm>
            <a:off x="587402" y="3166163"/>
            <a:ext cx="2253900" cy="4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555555"/>
                </a:solidFill>
              </a:rPr>
              <a:t>An expert</a:t>
            </a:r>
            <a:r>
              <a:rPr b="0" i="0" lang="en-US" sz="825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 in student mental </a:t>
            </a:r>
            <a:r>
              <a:rPr lang="en-US" sz="825">
                <a:solidFill>
                  <a:srgbClr val="555555"/>
                </a:solidFill>
              </a:rPr>
              <a:t>health will</a:t>
            </a:r>
            <a:r>
              <a:rPr b="0" i="0" lang="en-US" sz="825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 explain the medical perspective on stress and when to seek help.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gradient-61e274ca.png" id="104" name="Google Shape;10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83000" y="1905149"/>
            <a:ext cx="2667000" cy="2019003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8"/>
          <p:cNvSpPr/>
          <p:nvPr/>
        </p:nvSpPr>
        <p:spPr>
          <a:xfrm>
            <a:off x="3445052" y="2465099"/>
            <a:ext cx="22539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2E7D32"/>
                </a:solidFill>
              </a:rPr>
              <a:t>Nikita Pradhan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8"/>
          <p:cNvSpPr/>
          <p:nvPr/>
        </p:nvSpPr>
        <p:spPr>
          <a:xfrm>
            <a:off x="3341752" y="2868070"/>
            <a:ext cx="2253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88E3C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88E3C"/>
                </a:solidFill>
                <a:latin typeface="Arial"/>
                <a:ea typeface="Arial"/>
                <a:cs typeface="Arial"/>
                <a:sym typeface="Arial"/>
              </a:rPr>
              <a:t>Clinical Psychologist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8"/>
          <p:cNvSpPr/>
          <p:nvPr/>
        </p:nvSpPr>
        <p:spPr>
          <a:xfrm>
            <a:off x="3445002" y="3166185"/>
            <a:ext cx="22539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Specializes in practical coping strategies and self-care techniques for everyday stress.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gradient-57cea668.png" id="108" name="Google Shape;108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1905149"/>
            <a:ext cx="2667000" cy="201900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8"/>
          <p:cNvSpPr/>
          <p:nvPr/>
        </p:nvSpPr>
        <p:spPr>
          <a:xfrm>
            <a:off x="6302602" y="2425374"/>
            <a:ext cx="22539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E65100"/>
                </a:solidFill>
              </a:rPr>
              <a:t>Gopal Mahaseth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8"/>
          <p:cNvSpPr/>
          <p:nvPr/>
        </p:nvSpPr>
        <p:spPr>
          <a:xfrm>
            <a:off x="6302552" y="2868033"/>
            <a:ext cx="2253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57C00"/>
                </a:solidFill>
                <a:latin typeface="Arial"/>
                <a:ea typeface="Arial"/>
                <a:cs typeface="Arial"/>
                <a:sym typeface="Arial"/>
              </a:rPr>
              <a:t>Experienced Educator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8"/>
          <p:cNvSpPr/>
          <p:nvPr/>
        </p:nvSpPr>
        <p:spPr>
          <a:xfrm>
            <a:off x="6302602" y="3166135"/>
            <a:ext cx="22539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Shares the school perspective and how teachers can support struggling students.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3A5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9"/>
          <p:cNvSpPr/>
          <p:nvPr/>
        </p:nvSpPr>
        <p:spPr>
          <a:xfrm>
            <a:off x="4221028" y="1228725"/>
            <a:ext cx="701945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PART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9"/>
          <p:cNvSpPr/>
          <p:nvPr/>
        </p:nvSpPr>
        <p:spPr>
          <a:xfrm>
            <a:off x="1346150" y="1708696"/>
            <a:ext cx="64516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Understanding Mental Health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9"/>
          <p:cNvSpPr/>
          <p:nvPr/>
        </p:nvSpPr>
        <p:spPr>
          <a:xfrm>
            <a:off x="3684100" y="2470700"/>
            <a:ext cx="2055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मानसिक स्वास्थ्य बुझ्दै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9"/>
          <p:cNvSpPr/>
          <p:nvPr/>
        </p:nvSpPr>
        <p:spPr>
          <a:xfrm>
            <a:off x="4271075" y="2856446"/>
            <a:ext cx="762000" cy="38100"/>
          </a:xfrm>
          <a:prstGeom prst="roundRect">
            <a:avLst>
              <a:gd fmla="val 50000" name="adj"/>
            </a:avLst>
          </a:prstGeom>
          <a:solidFill>
            <a:srgbClr val="FF6B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9"/>
          <p:cNvSpPr/>
          <p:nvPr/>
        </p:nvSpPr>
        <p:spPr>
          <a:xfrm>
            <a:off x="3532825" y="3689900"/>
            <a:ext cx="2248200" cy="1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With Dr. </a:t>
            </a:r>
            <a:r>
              <a:rPr lang="en-US" sz="1750">
                <a:solidFill>
                  <a:srgbClr val="FFFFFF"/>
                </a:solidFill>
              </a:rPr>
              <a:t>Amit Jha</a:t>
            </a:r>
            <a:endParaRPr sz="1750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t/>
            </a:r>
            <a:endParaRPr sz="175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0"/>
          <p:cNvSpPr/>
          <p:nvPr/>
        </p:nvSpPr>
        <p:spPr>
          <a:xfrm>
            <a:off x="381000" y="228600"/>
            <a:ext cx="43622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What is Mental Health? 🧠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0"/>
          <p:cNvSpPr/>
          <p:nvPr/>
        </p:nvSpPr>
        <p:spPr>
          <a:xfrm>
            <a:off x="381000" y="1828949"/>
            <a:ext cx="4617690" cy="838200"/>
          </a:xfrm>
          <a:prstGeom prst="roundRect">
            <a:avLst>
              <a:gd fmla="val 13636" name="adj"/>
            </a:avLst>
          </a:prstGeom>
          <a:solidFill>
            <a:srgbClr val="E3F2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0"/>
          <p:cNvSpPr/>
          <p:nvPr/>
        </p:nvSpPr>
        <p:spPr>
          <a:xfrm>
            <a:off x="571500" y="2019449"/>
            <a:ext cx="43214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Mental health</a:t>
            </a:r>
            <a:r>
              <a:rPr b="0" i="0" lang="en-US" sz="1125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 includes our emotional, psychological, and social well-being. It affects how we think, feel, and act.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0"/>
          <p:cNvSpPr/>
          <p:nvPr/>
        </p:nvSpPr>
        <p:spPr>
          <a:xfrm>
            <a:off x="381000" y="2819549"/>
            <a:ext cx="4710044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Mental health affects: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0"/>
          <p:cNvSpPr/>
          <p:nvPr/>
        </p:nvSpPr>
        <p:spPr>
          <a:xfrm>
            <a:off x="381000" y="3120479"/>
            <a:ext cx="1258639" cy="363736"/>
          </a:xfrm>
          <a:prstGeom prst="roundRect">
            <a:avLst>
              <a:gd fmla="val 20949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2" name="Google Shape;132;p10"/>
          <p:cNvCxnSpPr/>
          <p:nvPr/>
        </p:nvCxnSpPr>
        <p:spPr>
          <a:xfrm>
            <a:off x="395288" y="3120479"/>
            <a:ext cx="0" cy="363736"/>
          </a:xfrm>
          <a:prstGeom prst="straightConnector1">
            <a:avLst/>
          </a:prstGeom>
          <a:noFill/>
          <a:ln cap="flat" cmpd="sng" w="2857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3" name="Google Shape;133;p10"/>
          <p:cNvSpPr/>
          <p:nvPr/>
        </p:nvSpPr>
        <p:spPr>
          <a:xfrm>
            <a:off x="561975" y="3215729"/>
            <a:ext cx="943770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💭 How we think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0"/>
          <p:cNvSpPr/>
          <p:nvPr/>
        </p:nvSpPr>
        <p:spPr>
          <a:xfrm>
            <a:off x="1753939" y="3120479"/>
            <a:ext cx="1196727" cy="363736"/>
          </a:xfrm>
          <a:prstGeom prst="roundRect">
            <a:avLst>
              <a:gd fmla="val 20949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" name="Google Shape;135;p10"/>
          <p:cNvCxnSpPr/>
          <p:nvPr/>
        </p:nvCxnSpPr>
        <p:spPr>
          <a:xfrm>
            <a:off x="1768227" y="3120479"/>
            <a:ext cx="0" cy="363736"/>
          </a:xfrm>
          <a:prstGeom prst="straightConnector1">
            <a:avLst/>
          </a:prstGeom>
          <a:noFill/>
          <a:ln cap="flat" cmpd="sng" w="2857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6" name="Google Shape;136;p10"/>
          <p:cNvSpPr/>
          <p:nvPr/>
        </p:nvSpPr>
        <p:spPr>
          <a:xfrm>
            <a:off x="1934914" y="3215729"/>
            <a:ext cx="880619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❤️ How we feel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0"/>
          <p:cNvSpPr/>
          <p:nvPr/>
        </p:nvSpPr>
        <p:spPr>
          <a:xfrm>
            <a:off x="3064966" y="3120479"/>
            <a:ext cx="1306860" cy="363736"/>
          </a:xfrm>
          <a:prstGeom prst="roundRect">
            <a:avLst>
              <a:gd fmla="val 20949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8" name="Google Shape;138;p10"/>
          <p:cNvCxnSpPr/>
          <p:nvPr/>
        </p:nvCxnSpPr>
        <p:spPr>
          <a:xfrm>
            <a:off x="3079254" y="3120479"/>
            <a:ext cx="0" cy="363736"/>
          </a:xfrm>
          <a:prstGeom prst="straightConnector1">
            <a:avLst/>
          </a:prstGeom>
          <a:noFill/>
          <a:ln cap="flat" cmpd="sng" w="28575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9" name="Google Shape;139;p10"/>
          <p:cNvSpPr/>
          <p:nvPr/>
        </p:nvSpPr>
        <p:spPr>
          <a:xfrm>
            <a:off x="3245941" y="3215729"/>
            <a:ext cx="992954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🤝 How we relate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0"/>
          <p:cNvSpPr/>
          <p:nvPr/>
        </p:nvSpPr>
        <p:spPr>
          <a:xfrm>
            <a:off x="381000" y="3598515"/>
            <a:ext cx="1265634" cy="363736"/>
          </a:xfrm>
          <a:prstGeom prst="roundRect">
            <a:avLst>
              <a:gd fmla="val 20949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1" name="Google Shape;141;p10"/>
          <p:cNvCxnSpPr/>
          <p:nvPr/>
        </p:nvCxnSpPr>
        <p:spPr>
          <a:xfrm>
            <a:off x="395288" y="3598515"/>
            <a:ext cx="0" cy="363736"/>
          </a:xfrm>
          <a:prstGeom prst="straightConnector1">
            <a:avLst/>
          </a:prstGeom>
          <a:noFill/>
          <a:ln cap="flat" cmpd="sng" w="28575">
            <a:solidFill>
              <a:srgbClr val="7B1FA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2" name="Google Shape;142;p10"/>
          <p:cNvSpPr/>
          <p:nvPr/>
        </p:nvSpPr>
        <p:spPr>
          <a:xfrm>
            <a:off x="561975" y="3693765"/>
            <a:ext cx="950905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⚡ How we cope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gradient-88062588.png" id="143" name="Google Shape;14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7290" y="2125117"/>
            <a:ext cx="3535710" cy="154096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0"/>
          <p:cNvSpPr/>
          <p:nvPr/>
        </p:nvSpPr>
        <p:spPr>
          <a:xfrm>
            <a:off x="5455890" y="2353717"/>
            <a:ext cx="3140080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KEY INSIGHT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0"/>
          <p:cNvSpPr/>
          <p:nvPr/>
        </p:nvSpPr>
        <p:spPr>
          <a:xfrm>
            <a:off x="5455890" y="2654647"/>
            <a:ext cx="31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Mental health is like physical healt</a:t>
            </a:r>
            <a:r>
              <a:rPr lang="en-US" sz="1200">
                <a:solidFill>
                  <a:srgbClr val="FFFFFF"/>
                </a:solidFill>
              </a:rPr>
              <a:t>h </a:t>
            </a:r>
            <a:endParaRPr sz="1200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FFFFFF"/>
                </a:solidFill>
              </a:rPr>
              <a:t>Everyone</a:t>
            </a: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has it, and it needs care!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0"/>
          <p:cNvSpPr/>
          <p:nvPr/>
        </p:nvSpPr>
        <p:spPr>
          <a:xfrm>
            <a:off x="5455890" y="3264247"/>
            <a:ext cx="3140080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मानसिक स्वास्थ्य शारीरिक स्वास्थ्य जस्तै हो</a:t>
            </a:r>
            <a:r>
              <a:rPr lang="en-US" sz="975">
                <a:solidFill>
                  <a:srgbClr val="FFFFFF"/>
                </a:solidFill>
              </a:rPr>
              <a:t>—सबैलाई</a:t>
            </a:r>
            <a:r>
              <a:rPr b="0" i="0" lang="en-US" sz="9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हुन्छ!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3A5F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"/>
          <p:cNvSpPr/>
          <p:nvPr/>
        </p:nvSpPr>
        <p:spPr>
          <a:xfrm>
            <a:off x="381000" y="228600"/>
            <a:ext cx="428453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Reality: Statistics 📊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1"/>
          <p:cNvSpPr/>
          <p:nvPr/>
        </p:nvSpPr>
        <p:spPr>
          <a:xfrm>
            <a:off x="381000" y="1686967"/>
            <a:ext cx="2667000" cy="1965722"/>
          </a:xfrm>
          <a:prstGeom prst="roundRect">
            <a:avLst>
              <a:gd fmla="val 7753" name="adj"/>
            </a:avLst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1"/>
          <p:cNvSpPr/>
          <p:nvPr/>
        </p:nvSpPr>
        <p:spPr>
          <a:xfrm>
            <a:off x="626364" y="1953667"/>
            <a:ext cx="2176272" cy="7466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1 in 4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1"/>
          <p:cNvSpPr/>
          <p:nvPr/>
        </p:nvSpPr>
        <p:spPr>
          <a:xfrm>
            <a:off x="626364" y="2776538"/>
            <a:ext cx="2176272" cy="373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Students experience significant stress or anxiety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1"/>
          <p:cNvSpPr/>
          <p:nvPr/>
        </p:nvSpPr>
        <p:spPr>
          <a:xfrm>
            <a:off x="626364" y="3225998"/>
            <a:ext cx="2176272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1"/>
          <p:cNvSpPr/>
          <p:nvPr/>
        </p:nvSpPr>
        <p:spPr>
          <a:xfrm>
            <a:off x="3238500" y="1686967"/>
            <a:ext cx="2667000" cy="1965722"/>
          </a:xfrm>
          <a:prstGeom prst="roundRect">
            <a:avLst>
              <a:gd fmla="val 7753" name="adj"/>
            </a:avLst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1"/>
          <p:cNvSpPr/>
          <p:nvPr/>
        </p:nvSpPr>
        <p:spPr>
          <a:xfrm>
            <a:off x="3483864" y="1953667"/>
            <a:ext cx="2176272" cy="7466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75%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1"/>
          <p:cNvSpPr/>
          <p:nvPr/>
        </p:nvSpPr>
        <p:spPr>
          <a:xfrm>
            <a:off x="3483864" y="2776538"/>
            <a:ext cx="2176272" cy="373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Mental health issues begin before age 24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1"/>
          <p:cNvSpPr/>
          <p:nvPr/>
        </p:nvSpPr>
        <p:spPr>
          <a:xfrm>
            <a:off x="3483864" y="3225998"/>
            <a:ext cx="2176272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1"/>
          <p:cNvSpPr/>
          <p:nvPr/>
        </p:nvSpPr>
        <p:spPr>
          <a:xfrm>
            <a:off x="6096000" y="1686975"/>
            <a:ext cx="2667000" cy="1965600"/>
          </a:xfrm>
          <a:prstGeom prst="roundRect">
            <a:avLst>
              <a:gd fmla="val 8566" name="adj"/>
            </a:avLst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1"/>
          <p:cNvSpPr/>
          <p:nvPr/>
        </p:nvSpPr>
        <p:spPr>
          <a:xfrm>
            <a:off x="6341375" y="1953675"/>
            <a:ext cx="21762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D32F2F"/>
                </a:solidFill>
                <a:latin typeface="Arial"/>
                <a:ea typeface="Arial"/>
                <a:cs typeface="Arial"/>
                <a:sym typeface="Arial"/>
              </a:rPr>
              <a:t>~10%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1"/>
          <p:cNvSpPr/>
          <p:nvPr/>
        </p:nvSpPr>
        <p:spPr>
          <a:xfrm>
            <a:off x="6341375" y="2803198"/>
            <a:ext cx="2176200" cy="2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Actually seek professional help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1"/>
          <p:cNvSpPr/>
          <p:nvPr/>
        </p:nvSpPr>
        <p:spPr>
          <a:xfrm>
            <a:off x="6341364" y="3132683"/>
            <a:ext cx="2176272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1"/>
          <p:cNvSpPr/>
          <p:nvPr/>
        </p:nvSpPr>
        <p:spPr>
          <a:xfrm>
            <a:off x="297180" y="4730204"/>
            <a:ext cx="8549640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Source: WHO Global Mental Health Report | Nepal Mental Health Survey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2"/>
          <p:cNvSpPr/>
          <p:nvPr/>
        </p:nvSpPr>
        <p:spPr>
          <a:xfrm>
            <a:off x="381000" y="228600"/>
            <a:ext cx="495490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Common Student Pressures 😰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2"/>
          <p:cNvSpPr/>
          <p:nvPr/>
        </p:nvSpPr>
        <p:spPr>
          <a:xfrm>
            <a:off x="381000" y="857250"/>
            <a:ext cx="2009775" cy="975271"/>
          </a:xfrm>
          <a:prstGeom prst="roundRect">
            <a:avLst>
              <a:gd fmla="val 9767" name="adj"/>
            </a:avLst>
          </a:prstGeom>
          <a:solidFill>
            <a:srgbClr val="FFEB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2"/>
          <p:cNvSpPr/>
          <p:nvPr/>
        </p:nvSpPr>
        <p:spPr>
          <a:xfrm>
            <a:off x="496919" y="990600"/>
            <a:ext cx="1777937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📝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2"/>
          <p:cNvSpPr/>
          <p:nvPr/>
        </p:nvSpPr>
        <p:spPr>
          <a:xfrm>
            <a:off x="496919" y="1367730"/>
            <a:ext cx="1777937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D32F2F"/>
                </a:solidFill>
                <a:latin typeface="Arial"/>
                <a:ea typeface="Arial"/>
                <a:cs typeface="Arial"/>
                <a:sym typeface="Arial"/>
              </a:rPr>
              <a:t>Exams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2"/>
          <p:cNvSpPr/>
          <p:nvPr/>
        </p:nvSpPr>
        <p:spPr>
          <a:xfrm>
            <a:off x="496919" y="1565821"/>
            <a:ext cx="177793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परीक्षा तनाव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2"/>
          <p:cNvSpPr/>
          <p:nvPr/>
        </p:nvSpPr>
        <p:spPr>
          <a:xfrm>
            <a:off x="2505075" y="857250"/>
            <a:ext cx="2009775" cy="975271"/>
          </a:xfrm>
          <a:prstGeom prst="roundRect">
            <a:avLst>
              <a:gd fmla="val 9767" name="adj"/>
            </a:avLst>
          </a:prstGeom>
          <a:solidFill>
            <a:srgbClr val="E3F2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2"/>
          <p:cNvSpPr/>
          <p:nvPr/>
        </p:nvSpPr>
        <p:spPr>
          <a:xfrm>
            <a:off x="2620994" y="990600"/>
            <a:ext cx="1777937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👨‍👩‍👧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2"/>
          <p:cNvSpPr/>
          <p:nvPr/>
        </p:nvSpPr>
        <p:spPr>
          <a:xfrm>
            <a:off x="2620994" y="1367730"/>
            <a:ext cx="1777937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Family Expectations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2"/>
          <p:cNvSpPr/>
          <p:nvPr/>
        </p:nvSpPr>
        <p:spPr>
          <a:xfrm>
            <a:off x="2620994" y="1565821"/>
            <a:ext cx="177793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परिवारको आशा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2"/>
          <p:cNvSpPr/>
          <p:nvPr/>
        </p:nvSpPr>
        <p:spPr>
          <a:xfrm>
            <a:off x="4629150" y="857250"/>
            <a:ext cx="2009775" cy="975271"/>
          </a:xfrm>
          <a:prstGeom prst="roundRect">
            <a:avLst>
              <a:gd fmla="val 9767" name="adj"/>
            </a:avLst>
          </a:prstGeom>
          <a:solidFill>
            <a:srgbClr val="FFF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2"/>
          <p:cNvSpPr/>
          <p:nvPr/>
        </p:nvSpPr>
        <p:spPr>
          <a:xfrm>
            <a:off x="4745069" y="990600"/>
            <a:ext cx="1777937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👥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2"/>
          <p:cNvSpPr/>
          <p:nvPr/>
        </p:nvSpPr>
        <p:spPr>
          <a:xfrm>
            <a:off x="4745069" y="1367730"/>
            <a:ext cx="1777937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E65100"/>
                </a:solidFill>
                <a:latin typeface="Arial"/>
                <a:ea typeface="Arial"/>
                <a:cs typeface="Arial"/>
                <a:sym typeface="Arial"/>
              </a:rPr>
              <a:t>Peer Comparison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2"/>
          <p:cNvSpPr/>
          <p:nvPr/>
        </p:nvSpPr>
        <p:spPr>
          <a:xfrm>
            <a:off x="4745069" y="1565821"/>
            <a:ext cx="177793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साथीसँग तुलना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2"/>
          <p:cNvSpPr/>
          <p:nvPr/>
        </p:nvSpPr>
        <p:spPr>
          <a:xfrm>
            <a:off x="6753225" y="857250"/>
            <a:ext cx="2009775" cy="975271"/>
          </a:xfrm>
          <a:prstGeom prst="roundRect">
            <a:avLst>
              <a:gd fmla="val 9767" name="adj"/>
            </a:avLst>
          </a:prstGeom>
          <a:solidFill>
            <a:srgbClr val="E8F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2"/>
          <p:cNvSpPr/>
          <p:nvPr/>
        </p:nvSpPr>
        <p:spPr>
          <a:xfrm>
            <a:off x="6869144" y="990600"/>
            <a:ext cx="1777937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🎯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2"/>
          <p:cNvSpPr/>
          <p:nvPr/>
        </p:nvSpPr>
        <p:spPr>
          <a:xfrm>
            <a:off x="6869144" y="1367730"/>
            <a:ext cx="1777937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Career Decisions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2"/>
          <p:cNvSpPr/>
          <p:nvPr/>
        </p:nvSpPr>
        <p:spPr>
          <a:xfrm>
            <a:off x="6869144" y="1565821"/>
            <a:ext cx="177793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भविष्य चिन्ता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2"/>
          <p:cNvSpPr/>
          <p:nvPr/>
        </p:nvSpPr>
        <p:spPr>
          <a:xfrm>
            <a:off x="381000" y="1946821"/>
            <a:ext cx="2009775" cy="975271"/>
          </a:xfrm>
          <a:prstGeom prst="roundRect">
            <a:avLst>
              <a:gd fmla="val 9767" name="adj"/>
            </a:avLst>
          </a:prstGeom>
          <a:solidFill>
            <a:srgbClr val="F3E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2"/>
          <p:cNvSpPr/>
          <p:nvPr/>
        </p:nvSpPr>
        <p:spPr>
          <a:xfrm>
            <a:off x="496919" y="2080171"/>
            <a:ext cx="1777937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📱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2"/>
          <p:cNvSpPr/>
          <p:nvPr/>
        </p:nvSpPr>
        <p:spPr>
          <a:xfrm>
            <a:off x="496919" y="2457301"/>
            <a:ext cx="1777937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B1FA2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7B1FA2"/>
                </a:solidFill>
                <a:latin typeface="Arial"/>
                <a:ea typeface="Arial"/>
                <a:cs typeface="Arial"/>
                <a:sym typeface="Arial"/>
              </a:rPr>
              <a:t>Social Media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2"/>
          <p:cNvSpPr/>
          <p:nvPr/>
        </p:nvSpPr>
        <p:spPr>
          <a:xfrm>
            <a:off x="496919" y="2655391"/>
            <a:ext cx="177793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सामाजिक सञ्जाल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2"/>
          <p:cNvSpPr/>
          <p:nvPr/>
        </p:nvSpPr>
        <p:spPr>
          <a:xfrm>
            <a:off x="2505075" y="1946821"/>
            <a:ext cx="2009775" cy="975271"/>
          </a:xfrm>
          <a:prstGeom prst="roundRect">
            <a:avLst>
              <a:gd fmla="val 9767" name="adj"/>
            </a:avLst>
          </a:prstGeom>
          <a:solidFill>
            <a:srgbClr val="E0F7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2"/>
          <p:cNvSpPr/>
          <p:nvPr/>
        </p:nvSpPr>
        <p:spPr>
          <a:xfrm>
            <a:off x="2620994" y="2080171"/>
            <a:ext cx="1777937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💰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2"/>
          <p:cNvSpPr/>
          <p:nvPr/>
        </p:nvSpPr>
        <p:spPr>
          <a:xfrm>
            <a:off x="2620994" y="2457301"/>
            <a:ext cx="1777937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838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838F"/>
                </a:solidFill>
                <a:latin typeface="Arial"/>
                <a:ea typeface="Arial"/>
                <a:cs typeface="Arial"/>
                <a:sym typeface="Arial"/>
              </a:rPr>
              <a:t>Financial Worries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2"/>
          <p:cNvSpPr/>
          <p:nvPr/>
        </p:nvSpPr>
        <p:spPr>
          <a:xfrm>
            <a:off x="2620994" y="2655391"/>
            <a:ext cx="177793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आर्थिक चिन्ता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2"/>
          <p:cNvSpPr/>
          <p:nvPr/>
        </p:nvSpPr>
        <p:spPr>
          <a:xfrm>
            <a:off x="4629150" y="1946821"/>
            <a:ext cx="2009775" cy="975271"/>
          </a:xfrm>
          <a:prstGeom prst="roundRect">
            <a:avLst>
              <a:gd fmla="val 9767" name="adj"/>
            </a:avLst>
          </a:prstGeom>
          <a:solidFill>
            <a:srgbClr val="FBE9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2"/>
          <p:cNvSpPr/>
          <p:nvPr/>
        </p:nvSpPr>
        <p:spPr>
          <a:xfrm>
            <a:off x="4745069" y="2080171"/>
            <a:ext cx="1777937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💔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2"/>
          <p:cNvSpPr/>
          <p:nvPr/>
        </p:nvSpPr>
        <p:spPr>
          <a:xfrm>
            <a:off x="4745069" y="2457301"/>
            <a:ext cx="1777937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F360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BF360C"/>
                </a:solidFill>
                <a:latin typeface="Arial"/>
                <a:ea typeface="Arial"/>
                <a:cs typeface="Arial"/>
                <a:sym typeface="Arial"/>
              </a:rPr>
              <a:t>Relationships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2"/>
          <p:cNvSpPr/>
          <p:nvPr/>
        </p:nvSpPr>
        <p:spPr>
          <a:xfrm>
            <a:off x="4745069" y="2655391"/>
            <a:ext cx="177793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सम्बन्ध समस्या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2"/>
          <p:cNvSpPr/>
          <p:nvPr/>
        </p:nvSpPr>
        <p:spPr>
          <a:xfrm>
            <a:off x="6753225" y="1946821"/>
            <a:ext cx="2009775" cy="975271"/>
          </a:xfrm>
          <a:prstGeom prst="roundRect">
            <a:avLst>
              <a:gd fmla="val 9767" name="adj"/>
            </a:avLst>
          </a:prstGeom>
          <a:solidFill>
            <a:srgbClr val="ECEF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2"/>
          <p:cNvSpPr/>
          <p:nvPr/>
        </p:nvSpPr>
        <p:spPr>
          <a:xfrm>
            <a:off x="6869144" y="2080171"/>
            <a:ext cx="1777937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2"/>
          <p:cNvSpPr/>
          <p:nvPr/>
        </p:nvSpPr>
        <p:spPr>
          <a:xfrm>
            <a:off x="6869144" y="2457301"/>
            <a:ext cx="1777937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55A64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455A64"/>
                </a:solidFill>
                <a:latin typeface="Arial"/>
                <a:ea typeface="Arial"/>
                <a:cs typeface="Arial"/>
                <a:sym typeface="Arial"/>
              </a:rPr>
              <a:t>Uncertainty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2"/>
          <p:cNvSpPr/>
          <p:nvPr/>
        </p:nvSpPr>
        <p:spPr>
          <a:xfrm>
            <a:off x="6869144" y="2655391"/>
            <a:ext cx="177793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अनिश्चितता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2"/>
          <p:cNvSpPr/>
          <p:nvPr/>
        </p:nvSpPr>
        <p:spPr>
          <a:xfrm>
            <a:off x="297180" y="4716810"/>
            <a:ext cx="8549640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900"/>
              <a:buFont typeface="Arial"/>
              <a:buNone/>
            </a:pPr>
            <a:r>
              <a:rPr b="0" i="0" lang="en-US" sz="180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Sound familiar? You're not alone! यी सबै सामान्य हो!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3"/>
          <p:cNvSpPr/>
          <p:nvPr/>
        </p:nvSpPr>
        <p:spPr>
          <a:xfrm>
            <a:off x="381000" y="228600"/>
            <a:ext cx="648023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Normal Stress vs. Mental Health Disorder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3"/>
          <p:cNvSpPr/>
          <p:nvPr/>
        </p:nvSpPr>
        <p:spPr>
          <a:xfrm>
            <a:off x="381000" y="1321147"/>
            <a:ext cx="4095750" cy="2664916"/>
          </a:xfrm>
          <a:prstGeom prst="roundRect">
            <a:avLst>
              <a:gd fmla="val 5719" name="adj"/>
            </a:avLst>
          </a:prstGeom>
          <a:solidFill>
            <a:srgbClr val="E8F5E9"/>
          </a:solidFill>
          <a:ln cap="flat" cmpd="sng" w="2857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3"/>
          <p:cNvSpPr/>
          <p:nvPr/>
        </p:nvSpPr>
        <p:spPr>
          <a:xfrm>
            <a:off x="602361" y="1578322"/>
            <a:ext cx="3653028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✅ NORMAL STRESS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3"/>
          <p:cNvSpPr/>
          <p:nvPr/>
        </p:nvSpPr>
        <p:spPr>
          <a:xfrm>
            <a:off x="638175" y="1943993"/>
            <a:ext cx="35814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noAutofit/>
          </a:bodyPr>
          <a:lstStyle/>
          <a:p>
            <a:pPr indent="-95250" lvl="0" marL="9525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Temporary</a:t>
            </a:r>
            <a:r>
              <a:rPr lang="en-US" sz="1350">
                <a:solidFill>
                  <a:srgbClr val="333333"/>
                </a:solidFill>
              </a:rPr>
              <a:t>—goes</a:t>
            </a:r>
            <a:r>
              <a:rPr b="0" i="0" lang="en-US" sz="13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away after the stressor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9525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You can still function daily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9525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Sleep and appetite mostly normal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9525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Can still enjoy some activities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9525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Coping strategies help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3"/>
          <p:cNvSpPr/>
          <p:nvPr/>
        </p:nvSpPr>
        <p:spPr>
          <a:xfrm>
            <a:off x="602361" y="3582293"/>
            <a:ext cx="3653028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825"/>
              <a:buFont typeface="Arial"/>
              <a:buNone/>
            </a:pPr>
            <a:r>
              <a:rPr b="0" i="0" lang="en-US" sz="1525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सामान्य तनाव</a:t>
            </a:r>
            <a:endParaRPr b="0" i="0" sz="15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3"/>
          <p:cNvSpPr/>
          <p:nvPr/>
        </p:nvSpPr>
        <p:spPr>
          <a:xfrm>
            <a:off x="4667250" y="1321147"/>
            <a:ext cx="4095750" cy="2664916"/>
          </a:xfrm>
          <a:prstGeom prst="roundRect">
            <a:avLst>
              <a:gd fmla="val 5719" name="adj"/>
            </a:avLst>
          </a:prstGeom>
          <a:solidFill>
            <a:srgbClr val="FFEBEE"/>
          </a:solidFill>
          <a:ln cap="flat" cmpd="sng" w="28575">
            <a:solidFill>
              <a:srgbClr val="D32F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3"/>
          <p:cNvSpPr/>
          <p:nvPr/>
        </p:nvSpPr>
        <p:spPr>
          <a:xfrm>
            <a:off x="4888611" y="1578322"/>
            <a:ext cx="3653028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32F2F"/>
                </a:solidFill>
                <a:latin typeface="Arial"/>
                <a:ea typeface="Arial"/>
                <a:cs typeface="Arial"/>
                <a:sym typeface="Arial"/>
              </a:rPr>
              <a:t>⚠️ NEEDS ATTENTION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3"/>
          <p:cNvSpPr/>
          <p:nvPr/>
        </p:nvSpPr>
        <p:spPr>
          <a:xfrm>
            <a:off x="4924425" y="1943993"/>
            <a:ext cx="35814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noAutofit/>
          </a:bodyPr>
          <a:lstStyle/>
          <a:p>
            <a:pPr indent="-95250" lvl="0" marL="9525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Lasts 2+ weeks without relief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9525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Difficulty with daily activities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9525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Significant sleep/appetite changes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9525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Loss of interest in everything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9525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Nothing seems to help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3"/>
          <p:cNvSpPr/>
          <p:nvPr/>
        </p:nvSpPr>
        <p:spPr>
          <a:xfrm>
            <a:off x="4888611" y="3582293"/>
            <a:ext cx="3653028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825"/>
              <a:buFont typeface="Arial"/>
              <a:buNone/>
            </a:pPr>
            <a:r>
              <a:rPr b="0" i="0" lang="en-US" sz="1125" u="none" cap="none" strike="noStrike">
                <a:solidFill>
                  <a:srgbClr val="D32F2F"/>
                </a:solidFill>
                <a:latin typeface="Arial"/>
                <a:ea typeface="Arial"/>
                <a:cs typeface="Arial"/>
                <a:sym typeface="Arial"/>
              </a:rPr>
              <a:t>पेशागत सहयोग चाहिन्छ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3"/>
          <p:cNvSpPr/>
          <p:nvPr/>
        </p:nvSpPr>
        <p:spPr>
          <a:xfrm>
            <a:off x="297180" y="4716810"/>
            <a:ext cx="8549640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b="0" i="0" lang="en-US" sz="13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If you're unsure, it's always okay to ask for help! सोध्न ठीक छ!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4"/>
          <p:cNvSpPr/>
          <p:nvPr/>
        </p:nvSpPr>
        <p:spPr>
          <a:xfrm>
            <a:off x="381000" y="228600"/>
            <a:ext cx="490632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D32F2F"/>
                </a:solidFill>
                <a:latin typeface="Arial"/>
                <a:ea typeface="Arial"/>
                <a:cs typeface="Arial"/>
                <a:sym typeface="Arial"/>
              </a:rPr>
              <a:t>⚠️ Warning Signs to Watch For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4"/>
          <p:cNvSpPr/>
          <p:nvPr/>
        </p:nvSpPr>
        <p:spPr>
          <a:xfrm>
            <a:off x="381000" y="819150"/>
            <a:ext cx="2019300" cy="845641"/>
          </a:xfrm>
          <a:prstGeom prst="roundRect">
            <a:avLst>
              <a:gd fmla="val 11264" name="adj"/>
            </a:avLst>
          </a:prstGeom>
          <a:solidFill>
            <a:srgbClr val="FFEB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4"/>
          <p:cNvSpPr/>
          <p:nvPr/>
        </p:nvSpPr>
        <p:spPr>
          <a:xfrm>
            <a:off x="477393" y="933450"/>
            <a:ext cx="1826514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😢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4"/>
          <p:cNvSpPr/>
          <p:nvPr/>
        </p:nvSpPr>
        <p:spPr>
          <a:xfrm>
            <a:off x="477393" y="1264890"/>
            <a:ext cx="1826514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Persistent Sadness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4"/>
          <p:cNvSpPr/>
          <p:nvPr/>
        </p:nvSpPr>
        <p:spPr>
          <a:xfrm>
            <a:off x="477393" y="1430536"/>
            <a:ext cx="1826514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लगातार उदासी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4"/>
          <p:cNvSpPr/>
          <p:nvPr/>
        </p:nvSpPr>
        <p:spPr>
          <a:xfrm>
            <a:off x="2495550" y="819150"/>
            <a:ext cx="2019300" cy="845641"/>
          </a:xfrm>
          <a:prstGeom prst="roundRect">
            <a:avLst>
              <a:gd fmla="val 11264" name="adj"/>
            </a:avLst>
          </a:prstGeom>
          <a:solidFill>
            <a:srgbClr val="FFEB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4"/>
          <p:cNvSpPr/>
          <p:nvPr/>
        </p:nvSpPr>
        <p:spPr>
          <a:xfrm>
            <a:off x="2591943" y="933450"/>
            <a:ext cx="1826514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😴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4"/>
          <p:cNvSpPr/>
          <p:nvPr/>
        </p:nvSpPr>
        <p:spPr>
          <a:xfrm>
            <a:off x="2591943" y="1264890"/>
            <a:ext cx="1826514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Sleep Changes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4"/>
          <p:cNvSpPr/>
          <p:nvPr/>
        </p:nvSpPr>
        <p:spPr>
          <a:xfrm>
            <a:off x="2591943" y="1430536"/>
            <a:ext cx="1826514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निद्रामा परिवर्तन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4"/>
          <p:cNvSpPr/>
          <p:nvPr/>
        </p:nvSpPr>
        <p:spPr>
          <a:xfrm>
            <a:off x="4610100" y="819150"/>
            <a:ext cx="2019300" cy="845641"/>
          </a:xfrm>
          <a:prstGeom prst="roundRect">
            <a:avLst>
              <a:gd fmla="val 11264" name="adj"/>
            </a:avLst>
          </a:prstGeom>
          <a:solidFill>
            <a:srgbClr val="FFEB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4"/>
          <p:cNvSpPr/>
          <p:nvPr/>
        </p:nvSpPr>
        <p:spPr>
          <a:xfrm>
            <a:off x="4706493" y="933450"/>
            <a:ext cx="1826514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🍽️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4"/>
          <p:cNvSpPr/>
          <p:nvPr/>
        </p:nvSpPr>
        <p:spPr>
          <a:xfrm>
            <a:off x="4706493" y="1264890"/>
            <a:ext cx="1826514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Appetite Changes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4"/>
          <p:cNvSpPr/>
          <p:nvPr/>
        </p:nvSpPr>
        <p:spPr>
          <a:xfrm>
            <a:off x="4706493" y="1430536"/>
            <a:ext cx="1826514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खानामा परिवर्तन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4"/>
          <p:cNvSpPr/>
          <p:nvPr/>
        </p:nvSpPr>
        <p:spPr>
          <a:xfrm>
            <a:off x="6724650" y="819150"/>
            <a:ext cx="2019300" cy="845641"/>
          </a:xfrm>
          <a:prstGeom prst="roundRect">
            <a:avLst>
              <a:gd fmla="val 11264" name="adj"/>
            </a:avLst>
          </a:prstGeom>
          <a:solidFill>
            <a:srgbClr val="FFEB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4"/>
          <p:cNvSpPr/>
          <p:nvPr/>
        </p:nvSpPr>
        <p:spPr>
          <a:xfrm>
            <a:off x="6821043" y="933450"/>
            <a:ext cx="1826514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🚫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4"/>
          <p:cNvSpPr/>
          <p:nvPr/>
        </p:nvSpPr>
        <p:spPr>
          <a:xfrm>
            <a:off x="6821043" y="1264890"/>
            <a:ext cx="1826514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Withdrawal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4"/>
          <p:cNvSpPr/>
          <p:nvPr/>
        </p:nvSpPr>
        <p:spPr>
          <a:xfrm>
            <a:off x="6821043" y="1430536"/>
            <a:ext cx="1826514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अलग हुनु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4"/>
          <p:cNvSpPr/>
          <p:nvPr/>
        </p:nvSpPr>
        <p:spPr>
          <a:xfrm>
            <a:off x="381000" y="1760041"/>
            <a:ext cx="2019300" cy="845641"/>
          </a:xfrm>
          <a:prstGeom prst="roundRect">
            <a:avLst>
              <a:gd fmla="val 11264" name="adj"/>
            </a:avLst>
          </a:prstGeom>
          <a:solidFill>
            <a:srgbClr val="FFEB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4"/>
          <p:cNvSpPr/>
          <p:nvPr/>
        </p:nvSpPr>
        <p:spPr>
          <a:xfrm>
            <a:off x="477393" y="1874341"/>
            <a:ext cx="1826514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📉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4"/>
          <p:cNvSpPr/>
          <p:nvPr/>
        </p:nvSpPr>
        <p:spPr>
          <a:xfrm>
            <a:off x="477393" y="2205782"/>
            <a:ext cx="1826514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Grade Drop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4"/>
          <p:cNvSpPr/>
          <p:nvPr/>
        </p:nvSpPr>
        <p:spPr>
          <a:xfrm>
            <a:off x="477393" y="2371427"/>
            <a:ext cx="1826514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ग्रेड घट्नु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4"/>
          <p:cNvSpPr/>
          <p:nvPr/>
        </p:nvSpPr>
        <p:spPr>
          <a:xfrm>
            <a:off x="2495550" y="1760041"/>
            <a:ext cx="2019300" cy="845641"/>
          </a:xfrm>
          <a:prstGeom prst="roundRect">
            <a:avLst>
              <a:gd fmla="val 11264" name="adj"/>
            </a:avLst>
          </a:prstGeom>
          <a:solidFill>
            <a:srgbClr val="FFEB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4"/>
          <p:cNvSpPr/>
          <p:nvPr/>
        </p:nvSpPr>
        <p:spPr>
          <a:xfrm>
            <a:off x="2591943" y="1874341"/>
            <a:ext cx="1826514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😡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4"/>
          <p:cNvSpPr/>
          <p:nvPr/>
        </p:nvSpPr>
        <p:spPr>
          <a:xfrm>
            <a:off x="2591943" y="2205782"/>
            <a:ext cx="1826514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Irritability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4"/>
          <p:cNvSpPr/>
          <p:nvPr/>
        </p:nvSpPr>
        <p:spPr>
          <a:xfrm>
            <a:off x="2591943" y="2371427"/>
            <a:ext cx="1826514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चिढचिढापन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4"/>
          <p:cNvSpPr/>
          <p:nvPr/>
        </p:nvSpPr>
        <p:spPr>
          <a:xfrm>
            <a:off x="4610100" y="1760041"/>
            <a:ext cx="2019300" cy="845641"/>
          </a:xfrm>
          <a:prstGeom prst="roundRect">
            <a:avLst>
              <a:gd fmla="val 11264" name="adj"/>
            </a:avLst>
          </a:prstGeom>
          <a:solidFill>
            <a:srgbClr val="FFEB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4"/>
          <p:cNvSpPr/>
          <p:nvPr/>
        </p:nvSpPr>
        <p:spPr>
          <a:xfrm>
            <a:off x="4706493" y="1874341"/>
            <a:ext cx="1826514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😰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4"/>
          <p:cNvSpPr/>
          <p:nvPr/>
        </p:nvSpPr>
        <p:spPr>
          <a:xfrm>
            <a:off x="4706493" y="2205782"/>
            <a:ext cx="1826514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Constant Worry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4"/>
          <p:cNvSpPr/>
          <p:nvPr/>
        </p:nvSpPr>
        <p:spPr>
          <a:xfrm>
            <a:off x="4706493" y="2371427"/>
            <a:ext cx="1826514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निरन्तर चिन्ता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4"/>
          <p:cNvSpPr/>
          <p:nvPr/>
        </p:nvSpPr>
        <p:spPr>
          <a:xfrm>
            <a:off x="6724650" y="1760041"/>
            <a:ext cx="2019300" cy="845641"/>
          </a:xfrm>
          <a:prstGeom prst="roundRect">
            <a:avLst>
              <a:gd fmla="val 11264" name="adj"/>
            </a:avLst>
          </a:prstGeom>
          <a:solidFill>
            <a:srgbClr val="FFEB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4"/>
          <p:cNvSpPr/>
          <p:nvPr/>
        </p:nvSpPr>
        <p:spPr>
          <a:xfrm>
            <a:off x="6821043" y="1874341"/>
            <a:ext cx="1826514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💭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4"/>
          <p:cNvSpPr/>
          <p:nvPr/>
        </p:nvSpPr>
        <p:spPr>
          <a:xfrm>
            <a:off x="6821043" y="2205782"/>
            <a:ext cx="1826514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825"/>
              <a:buFont typeface="Arial"/>
              <a:buNone/>
            </a:pPr>
            <a:r>
              <a:rPr b="1" i="0" lang="en-US" sz="825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Hopelessness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4"/>
          <p:cNvSpPr/>
          <p:nvPr/>
        </p:nvSpPr>
        <p:spPr>
          <a:xfrm>
            <a:off x="6821043" y="2371427"/>
            <a:ext cx="1826514" cy="119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75"/>
              <a:buFont typeface="Arial"/>
              <a:buNone/>
            </a:pPr>
            <a:r>
              <a:rPr b="0" i="0" lang="en-US" sz="675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निराशा</a:t>
            </a:r>
            <a:endParaRPr b="0" i="0" sz="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4"/>
          <p:cNvSpPr/>
          <p:nvPr/>
        </p:nvSpPr>
        <p:spPr>
          <a:xfrm>
            <a:off x="381000" y="4564410"/>
            <a:ext cx="8382000" cy="350490"/>
          </a:xfrm>
          <a:prstGeom prst="roundRect">
            <a:avLst>
              <a:gd fmla="val 21741" name="adj"/>
            </a:avLst>
          </a:prstGeom>
          <a:solidFill>
            <a:srgbClr val="FFF9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4"/>
          <p:cNvSpPr/>
          <p:nvPr/>
        </p:nvSpPr>
        <p:spPr>
          <a:xfrm>
            <a:off x="452628" y="4659660"/>
            <a:ext cx="8238744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57F17"/>
              </a:buClr>
              <a:buSzPts val="900"/>
              <a:buFont typeface="Arial"/>
              <a:buNone/>
            </a:pPr>
            <a:r>
              <a:rPr b="0" i="0" lang="en-US" u="none" cap="none" strike="noStrike">
                <a:solidFill>
                  <a:srgbClr val="F57F17"/>
                </a:solidFill>
                <a:latin typeface="Arial"/>
                <a:ea typeface="Arial"/>
                <a:cs typeface="Arial"/>
                <a:sym typeface="Arial"/>
              </a:rPr>
              <a:t>💡 If you notice these in yourself or a friend for 2+ weeks, consider seeking support!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5"/>
          <p:cNvSpPr/>
          <p:nvPr/>
        </p:nvSpPr>
        <p:spPr>
          <a:xfrm>
            <a:off x="381000" y="228600"/>
            <a:ext cx="428453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Breaking the Stigma 💪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5"/>
          <p:cNvSpPr/>
          <p:nvPr/>
        </p:nvSpPr>
        <p:spPr>
          <a:xfrm>
            <a:off x="381000" y="1502271"/>
            <a:ext cx="4114800" cy="708571"/>
          </a:xfrm>
          <a:prstGeom prst="roundRect">
            <a:avLst>
              <a:gd fmla="val 16131" name="adj"/>
            </a:avLst>
          </a:prstGeom>
          <a:solidFill>
            <a:srgbClr val="FFEB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7" name="Google Shape;267;p15"/>
          <p:cNvCxnSpPr/>
          <p:nvPr/>
        </p:nvCxnSpPr>
        <p:spPr>
          <a:xfrm>
            <a:off x="404813" y="1502271"/>
            <a:ext cx="0" cy="708571"/>
          </a:xfrm>
          <a:prstGeom prst="straightConnector1">
            <a:avLst/>
          </a:prstGeom>
          <a:noFill/>
          <a:ln cap="flat" cmpd="sng" w="47625">
            <a:solidFill>
              <a:srgbClr val="D32F2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8" name="Google Shape;268;p15"/>
          <p:cNvSpPr/>
          <p:nvPr/>
        </p:nvSpPr>
        <p:spPr>
          <a:xfrm>
            <a:off x="581025" y="1654671"/>
            <a:ext cx="3837622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D32F2F"/>
                </a:solidFill>
                <a:latin typeface="Arial"/>
                <a:ea typeface="Arial"/>
                <a:cs typeface="Arial"/>
                <a:sym typeface="Arial"/>
              </a:rPr>
              <a:t>❌ MYTH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5"/>
          <p:cNvSpPr/>
          <p:nvPr/>
        </p:nvSpPr>
        <p:spPr>
          <a:xfrm>
            <a:off x="581025" y="1871811"/>
            <a:ext cx="3837622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"Mental health problems = pagal"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5"/>
          <p:cNvSpPr/>
          <p:nvPr/>
        </p:nvSpPr>
        <p:spPr>
          <a:xfrm>
            <a:off x="4648200" y="1502271"/>
            <a:ext cx="4114800" cy="708571"/>
          </a:xfrm>
          <a:prstGeom prst="roundRect">
            <a:avLst>
              <a:gd fmla="val 16131" name="adj"/>
            </a:avLst>
          </a:prstGeom>
          <a:solidFill>
            <a:srgbClr val="E8F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1" name="Google Shape;271;p15"/>
          <p:cNvCxnSpPr/>
          <p:nvPr/>
        </p:nvCxnSpPr>
        <p:spPr>
          <a:xfrm>
            <a:off x="4672013" y="1502271"/>
            <a:ext cx="0" cy="708571"/>
          </a:xfrm>
          <a:prstGeom prst="straightConnector1">
            <a:avLst/>
          </a:prstGeom>
          <a:noFill/>
          <a:ln cap="flat" cmpd="sng" w="4762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2" name="Google Shape;272;p15"/>
          <p:cNvSpPr/>
          <p:nvPr/>
        </p:nvSpPr>
        <p:spPr>
          <a:xfrm>
            <a:off x="4848225" y="1654671"/>
            <a:ext cx="3837622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✅ FACT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5"/>
          <p:cNvSpPr/>
          <p:nvPr/>
        </p:nvSpPr>
        <p:spPr>
          <a:xfrm>
            <a:off x="4848225" y="1871811"/>
            <a:ext cx="3837622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Mental health is a spectrum. Everyone has ups and downs.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5"/>
          <p:cNvSpPr/>
          <p:nvPr/>
        </p:nvSpPr>
        <p:spPr>
          <a:xfrm>
            <a:off x="381000" y="2325142"/>
            <a:ext cx="4114800" cy="708571"/>
          </a:xfrm>
          <a:prstGeom prst="roundRect">
            <a:avLst>
              <a:gd fmla="val 16131" name="adj"/>
            </a:avLst>
          </a:prstGeom>
          <a:solidFill>
            <a:srgbClr val="FFEB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5" name="Google Shape;275;p15"/>
          <p:cNvCxnSpPr/>
          <p:nvPr/>
        </p:nvCxnSpPr>
        <p:spPr>
          <a:xfrm>
            <a:off x="404813" y="2325142"/>
            <a:ext cx="0" cy="708571"/>
          </a:xfrm>
          <a:prstGeom prst="straightConnector1">
            <a:avLst/>
          </a:prstGeom>
          <a:noFill/>
          <a:ln cap="flat" cmpd="sng" w="47625">
            <a:solidFill>
              <a:srgbClr val="D32F2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6" name="Google Shape;276;p15"/>
          <p:cNvSpPr/>
          <p:nvPr/>
        </p:nvSpPr>
        <p:spPr>
          <a:xfrm>
            <a:off x="581025" y="2477542"/>
            <a:ext cx="3837622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D32F2F"/>
                </a:solidFill>
                <a:latin typeface="Arial"/>
                <a:ea typeface="Arial"/>
                <a:cs typeface="Arial"/>
                <a:sym typeface="Arial"/>
              </a:rPr>
              <a:t>❌ MYTH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5"/>
          <p:cNvSpPr/>
          <p:nvPr/>
        </p:nvSpPr>
        <p:spPr>
          <a:xfrm>
            <a:off x="581025" y="2694682"/>
            <a:ext cx="3837622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"Asking for help = weakness"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5"/>
          <p:cNvSpPr/>
          <p:nvPr/>
        </p:nvSpPr>
        <p:spPr>
          <a:xfrm>
            <a:off x="4648200" y="2325142"/>
            <a:ext cx="4114800" cy="708571"/>
          </a:xfrm>
          <a:prstGeom prst="roundRect">
            <a:avLst>
              <a:gd fmla="val 16131" name="adj"/>
            </a:avLst>
          </a:prstGeom>
          <a:solidFill>
            <a:srgbClr val="E8F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9" name="Google Shape;279;p15"/>
          <p:cNvCxnSpPr/>
          <p:nvPr/>
        </p:nvCxnSpPr>
        <p:spPr>
          <a:xfrm>
            <a:off x="4672013" y="2325142"/>
            <a:ext cx="0" cy="708571"/>
          </a:xfrm>
          <a:prstGeom prst="straightConnector1">
            <a:avLst/>
          </a:prstGeom>
          <a:noFill/>
          <a:ln cap="flat" cmpd="sng" w="4762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0" name="Google Shape;280;p15"/>
          <p:cNvSpPr/>
          <p:nvPr/>
        </p:nvSpPr>
        <p:spPr>
          <a:xfrm>
            <a:off x="4848225" y="2477542"/>
            <a:ext cx="3837622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✅ FACT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5"/>
          <p:cNvSpPr/>
          <p:nvPr/>
        </p:nvSpPr>
        <p:spPr>
          <a:xfrm>
            <a:off x="4848225" y="2694682"/>
            <a:ext cx="3837622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Seeking help shows self-awareness and strength!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5"/>
          <p:cNvSpPr/>
          <p:nvPr/>
        </p:nvSpPr>
        <p:spPr>
          <a:xfrm>
            <a:off x="381000" y="3148013"/>
            <a:ext cx="4114800" cy="708571"/>
          </a:xfrm>
          <a:prstGeom prst="roundRect">
            <a:avLst>
              <a:gd fmla="val 16131" name="adj"/>
            </a:avLst>
          </a:prstGeom>
          <a:solidFill>
            <a:srgbClr val="FFEB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3" name="Google Shape;283;p15"/>
          <p:cNvCxnSpPr/>
          <p:nvPr/>
        </p:nvCxnSpPr>
        <p:spPr>
          <a:xfrm>
            <a:off x="404813" y="3148013"/>
            <a:ext cx="0" cy="708571"/>
          </a:xfrm>
          <a:prstGeom prst="straightConnector1">
            <a:avLst/>
          </a:prstGeom>
          <a:noFill/>
          <a:ln cap="flat" cmpd="sng" w="47625">
            <a:solidFill>
              <a:srgbClr val="D32F2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4" name="Google Shape;284;p15"/>
          <p:cNvSpPr/>
          <p:nvPr/>
        </p:nvSpPr>
        <p:spPr>
          <a:xfrm>
            <a:off x="581025" y="3300413"/>
            <a:ext cx="3837622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D32F2F"/>
                </a:solidFill>
                <a:latin typeface="Arial"/>
                <a:ea typeface="Arial"/>
                <a:cs typeface="Arial"/>
                <a:sym typeface="Arial"/>
              </a:rPr>
              <a:t>❌ MYTH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5"/>
          <p:cNvSpPr/>
          <p:nvPr/>
        </p:nvSpPr>
        <p:spPr>
          <a:xfrm>
            <a:off x="581025" y="3517553"/>
            <a:ext cx="3837622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"Just think positive and it will go away"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5"/>
          <p:cNvSpPr/>
          <p:nvPr/>
        </p:nvSpPr>
        <p:spPr>
          <a:xfrm>
            <a:off x="4648200" y="3148013"/>
            <a:ext cx="4114800" cy="708571"/>
          </a:xfrm>
          <a:prstGeom prst="roundRect">
            <a:avLst>
              <a:gd fmla="val 16131" name="adj"/>
            </a:avLst>
          </a:prstGeom>
          <a:solidFill>
            <a:srgbClr val="E8F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7" name="Google Shape;287;p15"/>
          <p:cNvCxnSpPr/>
          <p:nvPr/>
        </p:nvCxnSpPr>
        <p:spPr>
          <a:xfrm>
            <a:off x="4672013" y="3148013"/>
            <a:ext cx="0" cy="708571"/>
          </a:xfrm>
          <a:prstGeom prst="straightConnector1">
            <a:avLst/>
          </a:prstGeom>
          <a:noFill/>
          <a:ln cap="flat" cmpd="sng" w="4762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8" name="Google Shape;288;p15"/>
          <p:cNvSpPr/>
          <p:nvPr/>
        </p:nvSpPr>
        <p:spPr>
          <a:xfrm>
            <a:off x="4848225" y="3300413"/>
            <a:ext cx="3837622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✅ FACT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5"/>
          <p:cNvSpPr/>
          <p:nvPr/>
        </p:nvSpPr>
        <p:spPr>
          <a:xfrm>
            <a:off x="4848225" y="3517553"/>
            <a:ext cx="3837622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Mental health issues often need professional support to heal.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5"/>
          <p:cNvSpPr/>
          <p:nvPr/>
        </p:nvSpPr>
        <p:spPr>
          <a:xfrm>
            <a:off x="297180" y="4730204"/>
            <a:ext cx="8549640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25"/>
              <a:buFont typeface="Arial"/>
              <a:buNone/>
            </a:pPr>
            <a:r>
              <a:rPr b="0" i="0" lang="en-US" sz="1525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सहयोग माग्नु कमजोरी होइन, बल हो! 💚</a:t>
            </a:r>
            <a:endParaRPr b="0" i="0" sz="15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E7D32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6"/>
          <p:cNvSpPr/>
          <p:nvPr/>
        </p:nvSpPr>
        <p:spPr>
          <a:xfrm>
            <a:off x="4221028" y="1228725"/>
            <a:ext cx="701945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8E6C9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8E6C9"/>
                </a:solidFill>
                <a:latin typeface="Arial"/>
                <a:ea typeface="Arial"/>
                <a:cs typeface="Arial"/>
                <a:sym typeface="Arial"/>
              </a:rPr>
              <a:t>PART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6"/>
          <p:cNvSpPr/>
          <p:nvPr/>
        </p:nvSpPr>
        <p:spPr>
          <a:xfrm>
            <a:off x="1539853" y="1708696"/>
            <a:ext cx="606429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Practical Coping Strategies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6"/>
          <p:cNvSpPr/>
          <p:nvPr/>
        </p:nvSpPr>
        <p:spPr>
          <a:xfrm>
            <a:off x="2927700" y="2470700"/>
            <a:ext cx="3479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व्यावहारिक सामना रणनीतिहरू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6"/>
          <p:cNvSpPr/>
          <p:nvPr/>
        </p:nvSpPr>
        <p:spPr>
          <a:xfrm>
            <a:off x="4191000" y="2904347"/>
            <a:ext cx="1068300" cy="39600"/>
          </a:xfrm>
          <a:prstGeom prst="roundRect">
            <a:avLst>
              <a:gd fmla="val 50000" name="adj"/>
            </a:avLst>
          </a:prstGeom>
          <a:solidFill>
            <a:srgbClr val="C8E6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6"/>
          <p:cNvSpPr/>
          <p:nvPr/>
        </p:nvSpPr>
        <p:spPr>
          <a:xfrm>
            <a:off x="3797202" y="3689900"/>
            <a:ext cx="1818000" cy="1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With </a:t>
            </a:r>
            <a:r>
              <a:rPr lang="en-US" sz="1450">
                <a:solidFill>
                  <a:srgbClr val="FFFFFF"/>
                </a:solidFill>
              </a:rPr>
              <a:t>Nikita Pradhan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7"/>
          <p:cNvSpPr/>
          <p:nvPr/>
        </p:nvSpPr>
        <p:spPr>
          <a:xfrm>
            <a:off x="381000" y="228600"/>
            <a:ext cx="547954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Self-Care Basics: The NEP Rule 💚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gradient-07c55ff2.png" id="307" name="Google Shape;30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1386929"/>
            <a:ext cx="2667000" cy="2533352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17"/>
          <p:cNvSpPr/>
          <p:nvPr/>
        </p:nvSpPr>
        <p:spPr>
          <a:xfrm>
            <a:off x="1381125" y="1653629"/>
            <a:ext cx="666750" cy="666750"/>
          </a:xfrm>
          <a:prstGeom prst="roundRect">
            <a:avLst>
              <a:gd fmla="val 137143" name="adj"/>
            </a:avLst>
          </a:prstGeom>
          <a:solidFill>
            <a:srgbClr val="2E7D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7"/>
          <p:cNvSpPr/>
          <p:nvPr/>
        </p:nvSpPr>
        <p:spPr>
          <a:xfrm>
            <a:off x="626364" y="2472779"/>
            <a:ext cx="2176272" cy="373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7"/>
          <p:cNvSpPr/>
          <p:nvPr/>
        </p:nvSpPr>
        <p:spPr>
          <a:xfrm>
            <a:off x="626364" y="2884140"/>
            <a:ext cx="2176272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B5E20"/>
                </a:solidFill>
                <a:latin typeface="Arial"/>
                <a:ea typeface="Arial"/>
                <a:cs typeface="Arial"/>
                <a:sym typeface="Arial"/>
              </a:rPr>
              <a:t>NIDRA (Sleep)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7"/>
          <p:cNvSpPr/>
          <p:nvPr/>
        </p:nvSpPr>
        <p:spPr>
          <a:xfrm>
            <a:off x="626364" y="3173611"/>
            <a:ext cx="2176272" cy="4799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7-9 hours every night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Same bedtime routine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No screens before bed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gradient-e52faffe.png" id="312" name="Google Shape;31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8500" y="1386929"/>
            <a:ext cx="2667000" cy="2533352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7"/>
          <p:cNvSpPr/>
          <p:nvPr/>
        </p:nvSpPr>
        <p:spPr>
          <a:xfrm>
            <a:off x="4238625" y="1653629"/>
            <a:ext cx="666750" cy="666750"/>
          </a:xfrm>
          <a:prstGeom prst="roundRect">
            <a:avLst>
              <a:gd fmla="val 137143" name="adj"/>
            </a:avLst>
          </a:prstGeom>
          <a:solidFill>
            <a:srgbClr val="1565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7"/>
          <p:cNvSpPr/>
          <p:nvPr/>
        </p:nvSpPr>
        <p:spPr>
          <a:xfrm>
            <a:off x="3483864" y="2472779"/>
            <a:ext cx="2176272" cy="373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7"/>
          <p:cNvSpPr/>
          <p:nvPr/>
        </p:nvSpPr>
        <p:spPr>
          <a:xfrm>
            <a:off x="3483864" y="2884140"/>
            <a:ext cx="2176272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D47A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D47A1"/>
                </a:solidFill>
                <a:latin typeface="Arial"/>
                <a:ea typeface="Arial"/>
                <a:cs typeface="Arial"/>
                <a:sym typeface="Arial"/>
              </a:rPr>
              <a:t>EXERCISE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7"/>
          <p:cNvSpPr/>
          <p:nvPr/>
        </p:nvSpPr>
        <p:spPr>
          <a:xfrm>
            <a:off x="3483864" y="3173611"/>
            <a:ext cx="2176272" cy="4799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30 min daily movement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Walk, dance, yoga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Releases happy hormones!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gradient-0b1a3b0f.png" id="317" name="Google Shape;31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1386929"/>
            <a:ext cx="2667000" cy="2533352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17"/>
          <p:cNvSpPr/>
          <p:nvPr/>
        </p:nvSpPr>
        <p:spPr>
          <a:xfrm>
            <a:off x="7096125" y="1653629"/>
            <a:ext cx="666750" cy="666750"/>
          </a:xfrm>
          <a:prstGeom prst="roundRect">
            <a:avLst>
              <a:gd fmla="val 137143" name="adj"/>
            </a:avLst>
          </a:prstGeom>
          <a:solidFill>
            <a:srgbClr val="00838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7"/>
          <p:cNvSpPr/>
          <p:nvPr/>
        </p:nvSpPr>
        <p:spPr>
          <a:xfrm>
            <a:off x="6341364" y="2472779"/>
            <a:ext cx="2176272" cy="373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838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0838F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7"/>
          <p:cNvSpPr/>
          <p:nvPr/>
        </p:nvSpPr>
        <p:spPr>
          <a:xfrm>
            <a:off x="6341364" y="2884140"/>
            <a:ext cx="2176272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6064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6064"/>
                </a:solidFill>
                <a:latin typeface="Arial"/>
                <a:ea typeface="Arial"/>
                <a:cs typeface="Arial"/>
                <a:sym typeface="Arial"/>
              </a:rPr>
              <a:t>PAANI (Water)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7"/>
          <p:cNvSpPr/>
          <p:nvPr/>
        </p:nvSpPr>
        <p:spPr>
          <a:xfrm>
            <a:off x="6341364" y="3173611"/>
            <a:ext cx="2176272" cy="4799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8 glasses daily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Eat regular meals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Limit caffeine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7"/>
          <p:cNvSpPr/>
          <p:nvPr/>
        </p:nvSpPr>
        <p:spPr>
          <a:xfrm>
            <a:off x="297180" y="4716810"/>
            <a:ext cx="8549640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00"/>
              <a:buFont typeface="Arial"/>
              <a:buNone/>
            </a:pPr>
            <a:r>
              <a:rPr b="0" i="0" lang="en-US" sz="16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यी तीन कुरा daily गर्नुस् - शरीर र मन दुवै राम्रो हुन्छ!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8"/>
          <p:cNvSpPr/>
          <p:nvPr/>
        </p:nvSpPr>
        <p:spPr>
          <a:xfrm>
            <a:off x="381000" y="228600"/>
            <a:ext cx="428453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Smart Study Tips 📚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8"/>
          <p:cNvSpPr/>
          <p:nvPr/>
        </p:nvSpPr>
        <p:spPr>
          <a:xfrm>
            <a:off x="381000" y="1291679"/>
            <a:ext cx="3886200" cy="986730"/>
          </a:xfrm>
          <a:prstGeom prst="roundRect">
            <a:avLst>
              <a:gd fmla="val 11584" name="adj"/>
            </a:avLst>
          </a:prstGeom>
          <a:solidFill>
            <a:srgbClr val="FFF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0" name="Google Shape;330;p18"/>
          <p:cNvCxnSpPr/>
          <p:nvPr/>
        </p:nvCxnSpPr>
        <p:spPr>
          <a:xfrm>
            <a:off x="404813" y="1291679"/>
            <a:ext cx="0" cy="986730"/>
          </a:xfrm>
          <a:prstGeom prst="straightConnector1">
            <a:avLst/>
          </a:prstGeom>
          <a:noFill/>
          <a:ln cap="flat" cmpd="sng" w="47625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1" name="Google Shape;331;p18"/>
          <p:cNvSpPr/>
          <p:nvPr/>
        </p:nvSpPr>
        <p:spPr>
          <a:xfrm>
            <a:off x="619125" y="1482179"/>
            <a:ext cx="3526727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65100"/>
                </a:solidFill>
                <a:latin typeface="Arial"/>
                <a:ea typeface="Arial"/>
                <a:cs typeface="Arial"/>
                <a:sym typeface="Arial"/>
              </a:rPr>
              <a:t>🍅 POMODORO TECHNIQUE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8"/>
          <p:cNvSpPr/>
          <p:nvPr/>
        </p:nvSpPr>
        <p:spPr>
          <a:xfrm>
            <a:off x="619125" y="1745010"/>
            <a:ext cx="352672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Study 25 min → Break 5 min → Repeat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After 4 cycles, take a 15-30 min break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8"/>
          <p:cNvSpPr/>
          <p:nvPr/>
        </p:nvSpPr>
        <p:spPr>
          <a:xfrm>
            <a:off x="381000" y="2392710"/>
            <a:ext cx="3886200" cy="986730"/>
          </a:xfrm>
          <a:prstGeom prst="roundRect">
            <a:avLst>
              <a:gd fmla="val 11584" name="adj"/>
            </a:avLst>
          </a:prstGeom>
          <a:solidFill>
            <a:srgbClr val="E3F2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4" name="Google Shape;334;p18"/>
          <p:cNvCxnSpPr/>
          <p:nvPr/>
        </p:nvCxnSpPr>
        <p:spPr>
          <a:xfrm>
            <a:off x="404813" y="2392710"/>
            <a:ext cx="0" cy="986730"/>
          </a:xfrm>
          <a:prstGeom prst="straightConnector1">
            <a:avLst/>
          </a:prstGeom>
          <a:noFill/>
          <a:ln cap="flat" cmpd="sng" w="47625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5" name="Google Shape;335;p18"/>
          <p:cNvSpPr/>
          <p:nvPr/>
        </p:nvSpPr>
        <p:spPr>
          <a:xfrm>
            <a:off x="619125" y="2583210"/>
            <a:ext cx="3526727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📝 REALISTIC GOALS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8"/>
          <p:cNvSpPr/>
          <p:nvPr/>
        </p:nvSpPr>
        <p:spPr>
          <a:xfrm>
            <a:off x="619125" y="2846040"/>
            <a:ext cx="352672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Break big tasks into small steps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Celebrate small wins!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8"/>
          <p:cNvSpPr/>
          <p:nvPr/>
        </p:nvSpPr>
        <p:spPr>
          <a:xfrm>
            <a:off x="381000" y="3493740"/>
            <a:ext cx="3886200" cy="986730"/>
          </a:xfrm>
          <a:prstGeom prst="roundRect">
            <a:avLst>
              <a:gd fmla="val 11584" name="adj"/>
            </a:avLst>
          </a:prstGeom>
          <a:solidFill>
            <a:srgbClr val="E8F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8" name="Google Shape;338;p18"/>
          <p:cNvCxnSpPr/>
          <p:nvPr/>
        </p:nvCxnSpPr>
        <p:spPr>
          <a:xfrm>
            <a:off x="404813" y="3493740"/>
            <a:ext cx="0" cy="986730"/>
          </a:xfrm>
          <a:prstGeom prst="straightConnector1">
            <a:avLst/>
          </a:prstGeom>
          <a:noFill/>
          <a:ln cap="flat" cmpd="sng" w="4762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9" name="Google Shape;339;p18"/>
          <p:cNvSpPr/>
          <p:nvPr/>
        </p:nvSpPr>
        <p:spPr>
          <a:xfrm>
            <a:off x="619125" y="3684240"/>
            <a:ext cx="3526727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🧠 ACTIVE LEARNING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8"/>
          <p:cNvSpPr/>
          <p:nvPr/>
        </p:nvSpPr>
        <p:spPr>
          <a:xfrm>
            <a:off x="619125" y="3947071"/>
            <a:ext cx="352672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Teach what you learn to others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Make mind maps and flashcards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gradient-2844bb74.png" id="341" name="Google Shape;34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19600" y="1683544"/>
            <a:ext cx="4343400" cy="2404914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18"/>
          <p:cNvSpPr/>
          <p:nvPr/>
        </p:nvSpPr>
        <p:spPr>
          <a:xfrm>
            <a:off x="4648200" y="1912144"/>
            <a:ext cx="3963924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💡 PRO TIPS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8"/>
          <p:cNvSpPr/>
          <p:nvPr/>
        </p:nvSpPr>
        <p:spPr>
          <a:xfrm>
            <a:off x="4648200" y="2251174"/>
            <a:ext cx="3963924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 Study in a clean, quiet space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8"/>
          <p:cNvSpPr/>
          <p:nvPr/>
        </p:nvSpPr>
        <p:spPr>
          <a:xfrm>
            <a:off x="4648200" y="2532162"/>
            <a:ext cx="3963924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 Put phone on silent or in another room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8"/>
          <p:cNvSpPr/>
          <p:nvPr/>
        </p:nvSpPr>
        <p:spPr>
          <a:xfrm>
            <a:off x="4648200" y="2813149"/>
            <a:ext cx="3963924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 Get sunlight and fresh air daily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8"/>
          <p:cNvSpPr/>
          <p:nvPr/>
        </p:nvSpPr>
        <p:spPr>
          <a:xfrm>
            <a:off x="4648200" y="3094137"/>
            <a:ext cx="3963924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 Review notes within 24 hours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8"/>
          <p:cNvSpPr/>
          <p:nvPr/>
        </p:nvSpPr>
        <p:spPr>
          <a:xfrm>
            <a:off x="4648200" y="3375124"/>
            <a:ext cx="3963924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 Sleep well before exams - no all-nighters!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8"/>
          <p:cNvSpPr/>
          <p:nvPr/>
        </p:nvSpPr>
        <p:spPr>
          <a:xfrm>
            <a:off x="4648200" y="3713262"/>
            <a:ext cx="3963924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Arial"/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रात भर जागेर पढ्नु भन्दा निद्रा </a:t>
            </a:r>
            <a:r>
              <a:rPr lang="en-US" sz="1125">
                <a:solidFill>
                  <a:schemeClr val="lt1"/>
                </a:solidFill>
              </a:rPr>
              <a:t>राम्रो </a:t>
            </a: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E5F5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9"/>
          <p:cNvSpPr/>
          <p:nvPr/>
        </p:nvSpPr>
        <p:spPr>
          <a:xfrm>
            <a:off x="381000" y="228600"/>
            <a:ext cx="536295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1FA2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7B1FA2"/>
                </a:solidFill>
                <a:latin typeface="Arial"/>
                <a:ea typeface="Arial"/>
                <a:cs typeface="Arial"/>
                <a:sym typeface="Arial"/>
              </a:rPr>
              <a:t>5-4-3-2-1 Grounding Technique 🧘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9"/>
          <p:cNvSpPr/>
          <p:nvPr/>
        </p:nvSpPr>
        <p:spPr>
          <a:xfrm>
            <a:off x="381000" y="857250"/>
            <a:ext cx="8549640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75"/>
              <a:buFont typeface="Arial"/>
              <a:buNone/>
            </a:pPr>
            <a:r>
              <a:rPr b="0" i="0" lang="en-US" sz="1375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When you feel anxious, use your senses to ground yourself in the present moment:</a:t>
            </a:r>
            <a:endParaRPr b="0" i="0" sz="13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9"/>
          <p:cNvSpPr/>
          <p:nvPr/>
        </p:nvSpPr>
        <p:spPr>
          <a:xfrm>
            <a:off x="381000" y="2134493"/>
            <a:ext cx="1585020" cy="1516261"/>
          </a:xfrm>
          <a:prstGeom prst="roundRect">
            <a:avLst>
              <a:gd fmla="val 7538" name="adj"/>
            </a:avLst>
          </a:prstGeom>
          <a:solidFill>
            <a:srgbClr val="FFFFFF"/>
          </a:solidFill>
          <a:ln cap="flat" cmpd="sng" w="28575">
            <a:solidFill>
              <a:srgbClr val="9C27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9"/>
          <p:cNvSpPr/>
          <p:nvPr/>
        </p:nvSpPr>
        <p:spPr>
          <a:xfrm>
            <a:off x="549744" y="2315468"/>
            <a:ext cx="1247531" cy="4799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B1FA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7B1FA2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9"/>
          <p:cNvSpPr/>
          <p:nvPr/>
        </p:nvSpPr>
        <p:spPr>
          <a:xfrm>
            <a:off x="549744" y="2833539"/>
            <a:ext cx="124753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👀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9"/>
          <p:cNvSpPr/>
          <p:nvPr/>
        </p:nvSpPr>
        <p:spPr>
          <a:xfrm>
            <a:off x="549744" y="3138339"/>
            <a:ext cx="1247531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Things you SEE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9"/>
          <p:cNvSpPr/>
          <p:nvPr/>
        </p:nvSpPr>
        <p:spPr>
          <a:xfrm>
            <a:off x="549744" y="3336429"/>
            <a:ext cx="1247531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देख्नुहोस्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9"/>
          <p:cNvSpPr/>
          <p:nvPr/>
        </p:nvSpPr>
        <p:spPr>
          <a:xfrm>
            <a:off x="2080320" y="2134493"/>
            <a:ext cx="1585020" cy="1516261"/>
          </a:xfrm>
          <a:prstGeom prst="roundRect">
            <a:avLst>
              <a:gd fmla="val 7538" name="adj"/>
            </a:avLst>
          </a:prstGeom>
          <a:solidFill>
            <a:srgbClr val="FFFFFF"/>
          </a:solidFill>
          <a:ln cap="flat" cmpd="sng" w="28575">
            <a:solidFill>
              <a:srgbClr val="AB47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9"/>
          <p:cNvSpPr/>
          <p:nvPr/>
        </p:nvSpPr>
        <p:spPr>
          <a:xfrm>
            <a:off x="2249064" y="2315468"/>
            <a:ext cx="1247531" cy="4799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E24A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8E24AA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9"/>
          <p:cNvSpPr/>
          <p:nvPr/>
        </p:nvSpPr>
        <p:spPr>
          <a:xfrm>
            <a:off x="2249064" y="2833539"/>
            <a:ext cx="124753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✋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9"/>
          <p:cNvSpPr/>
          <p:nvPr/>
        </p:nvSpPr>
        <p:spPr>
          <a:xfrm>
            <a:off x="2249064" y="3138339"/>
            <a:ext cx="1247531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Things you TOUCH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9"/>
          <p:cNvSpPr/>
          <p:nvPr/>
        </p:nvSpPr>
        <p:spPr>
          <a:xfrm>
            <a:off x="2249064" y="3336429"/>
            <a:ext cx="1247531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छुनुहोस्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9"/>
          <p:cNvSpPr/>
          <p:nvPr/>
        </p:nvSpPr>
        <p:spPr>
          <a:xfrm>
            <a:off x="3779639" y="2134493"/>
            <a:ext cx="1585020" cy="1516261"/>
          </a:xfrm>
          <a:prstGeom prst="roundRect">
            <a:avLst>
              <a:gd fmla="val 7538" name="adj"/>
            </a:avLst>
          </a:prstGeom>
          <a:solidFill>
            <a:srgbClr val="FFFFFF"/>
          </a:solidFill>
          <a:ln cap="flat" cmpd="sng" w="28575">
            <a:solidFill>
              <a:srgbClr val="BA68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9"/>
          <p:cNvSpPr/>
          <p:nvPr/>
        </p:nvSpPr>
        <p:spPr>
          <a:xfrm>
            <a:off x="3948383" y="2315468"/>
            <a:ext cx="1247531" cy="4799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C27B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9C27B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9"/>
          <p:cNvSpPr/>
          <p:nvPr/>
        </p:nvSpPr>
        <p:spPr>
          <a:xfrm>
            <a:off x="3948383" y="2833539"/>
            <a:ext cx="124753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👂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9"/>
          <p:cNvSpPr/>
          <p:nvPr/>
        </p:nvSpPr>
        <p:spPr>
          <a:xfrm>
            <a:off x="3948383" y="3138339"/>
            <a:ext cx="1247531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Things you HEAR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9"/>
          <p:cNvSpPr/>
          <p:nvPr/>
        </p:nvSpPr>
        <p:spPr>
          <a:xfrm>
            <a:off x="3948383" y="3336429"/>
            <a:ext cx="1247531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सुन्नुहोस्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9"/>
          <p:cNvSpPr/>
          <p:nvPr/>
        </p:nvSpPr>
        <p:spPr>
          <a:xfrm>
            <a:off x="5478959" y="2134493"/>
            <a:ext cx="1585020" cy="1516261"/>
          </a:xfrm>
          <a:prstGeom prst="roundRect">
            <a:avLst>
              <a:gd fmla="val 7538" name="adj"/>
            </a:avLst>
          </a:prstGeom>
          <a:solidFill>
            <a:srgbClr val="FFFFFF"/>
          </a:solidFill>
          <a:ln cap="flat" cmpd="sng" w="28575">
            <a:solidFill>
              <a:srgbClr val="CE93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9"/>
          <p:cNvSpPr/>
          <p:nvPr/>
        </p:nvSpPr>
        <p:spPr>
          <a:xfrm>
            <a:off x="5647703" y="2315468"/>
            <a:ext cx="1247531" cy="4799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B47BC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AB47B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9"/>
          <p:cNvSpPr/>
          <p:nvPr/>
        </p:nvSpPr>
        <p:spPr>
          <a:xfrm>
            <a:off x="5647703" y="2833539"/>
            <a:ext cx="124753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👃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9"/>
          <p:cNvSpPr/>
          <p:nvPr/>
        </p:nvSpPr>
        <p:spPr>
          <a:xfrm>
            <a:off x="5647703" y="3138339"/>
            <a:ext cx="1247531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Things you SMELL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9"/>
          <p:cNvSpPr/>
          <p:nvPr/>
        </p:nvSpPr>
        <p:spPr>
          <a:xfrm>
            <a:off x="5647703" y="3336429"/>
            <a:ext cx="1247531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सुँघ्नुहोस्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9"/>
          <p:cNvSpPr/>
          <p:nvPr/>
        </p:nvSpPr>
        <p:spPr>
          <a:xfrm>
            <a:off x="7178278" y="2134493"/>
            <a:ext cx="1585020" cy="1516261"/>
          </a:xfrm>
          <a:prstGeom prst="roundRect">
            <a:avLst>
              <a:gd fmla="val 7538" name="adj"/>
            </a:avLst>
          </a:prstGeom>
          <a:solidFill>
            <a:srgbClr val="FFFFFF"/>
          </a:solidFill>
          <a:ln cap="flat" cmpd="sng" w="28575">
            <a:solidFill>
              <a:srgbClr val="E1BE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9"/>
          <p:cNvSpPr/>
          <p:nvPr/>
        </p:nvSpPr>
        <p:spPr>
          <a:xfrm>
            <a:off x="7347022" y="2315468"/>
            <a:ext cx="1247531" cy="4799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A68C8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BA68C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9"/>
          <p:cNvSpPr/>
          <p:nvPr/>
        </p:nvSpPr>
        <p:spPr>
          <a:xfrm>
            <a:off x="7347022" y="2833539"/>
            <a:ext cx="124753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👅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9"/>
          <p:cNvSpPr/>
          <p:nvPr/>
        </p:nvSpPr>
        <p:spPr>
          <a:xfrm>
            <a:off x="7347022" y="3138339"/>
            <a:ext cx="1247531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Thing you TASTE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9"/>
          <p:cNvSpPr/>
          <p:nvPr/>
        </p:nvSpPr>
        <p:spPr>
          <a:xfrm>
            <a:off x="7347022" y="3336429"/>
            <a:ext cx="1247531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स्वाद लिनुहोस्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9"/>
          <p:cNvSpPr/>
          <p:nvPr/>
        </p:nvSpPr>
        <p:spPr>
          <a:xfrm>
            <a:off x="297180" y="4716810"/>
            <a:ext cx="8549640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B1FA2"/>
              </a:buClr>
              <a:buSzPts val="900"/>
              <a:buFont typeface="Arial"/>
              <a:buNone/>
            </a:pPr>
            <a:r>
              <a:rPr b="0" i="0" lang="en-US" sz="1500" u="none" cap="none" strike="noStrike">
                <a:solidFill>
                  <a:srgbClr val="7B1FA2"/>
                </a:solidFill>
                <a:latin typeface="Arial"/>
                <a:ea typeface="Arial"/>
                <a:cs typeface="Arial"/>
                <a:sym typeface="Arial"/>
              </a:rPr>
              <a:t>Use this before exams, presentations, or whenever you feel overwhelmed! 💜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9CFC5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6" name="Google Shape;386;p20"/>
          <p:cNvGrpSpPr/>
          <p:nvPr/>
        </p:nvGrpSpPr>
        <p:grpSpPr>
          <a:xfrm>
            <a:off x="-707507" y="0"/>
            <a:ext cx="10559015" cy="5143500"/>
            <a:chOff x="0" y="0"/>
            <a:chExt cx="28157374" cy="13716000"/>
          </a:xfrm>
        </p:grpSpPr>
        <p:sp>
          <p:nvSpPr>
            <p:cNvPr id="387" name="Google Shape;387;p20"/>
            <p:cNvSpPr/>
            <p:nvPr/>
          </p:nvSpPr>
          <p:spPr>
            <a:xfrm>
              <a:off x="0" y="0"/>
              <a:ext cx="14069708" cy="13716000"/>
            </a:xfrm>
            <a:custGeom>
              <a:rect b="b" l="l" r="r" t="t"/>
              <a:pathLst>
                <a:path extrusionOk="0" h="13716000" w="14069708">
                  <a:moveTo>
                    <a:pt x="0" y="0"/>
                  </a:moveTo>
                  <a:lnTo>
                    <a:pt x="14069708" y="0"/>
                  </a:lnTo>
                  <a:lnTo>
                    <a:pt x="14069708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20000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88" name="Google Shape;388;p20"/>
            <p:cNvSpPr/>
            <p:nvPr/>
          </p:nvSpPr>
          <p:spPr>
            <a:xfrm>
              <a:off x="14087666" y="0"/>
              <a:ext cx="14069708" cy="13716000"/>
            </a:xfrm>
            <a:custGeom>
              <a:rect b="b" l="l" r="r" t="t"/>
              <a:pathLst>
                <a:path extrusionOk="0" h="13716000" w="14069708">
                  <a:moveTo>
                    <a:pt x="0" y="0"/>
                  </a:moveTo>
                  <a:lnTo>
                    <a:pt x="14069707" y="0"/>
                  </a:lnTo>
                  <a:lnTo>
                    <a:pt x="14069707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20000"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389" name="Google Shape;389;p20"/>
          <p:cNvSpPr/>
          <p:nvPr/>
        </p:nvSpPr>
        <p:spPr>
          <a:xfrm flipH="1">
            <a:off x="1182208" y="440831"/>
            <a:ext cx="6641212" cy="4577306"/>
          </a:xfrm>
          <a:custGeom>
            <a:rect b="b" l="l" r="r" t="t"/>
            <a:pathLst>
              <a:path extrusionOk="0" h="9154612" w="13282423">
                <a:moveTo>
                  <a:pt x="13282423" y="0"/>
                </a:moveTo>
                <a:lnTo>
                  <a:pt x="0" y="0"/>
                </a:lnTo>
                <a:lnTo>
                  <a:pt x="0" y="9154611"/>
                </a:lnTo>
                <a:lnTo>
                  <a:pt x="13282423" y="9154611"/>
                </a:lnTo>
                <a:lnTo>
                  <a:pt x="13282423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80518" l="0" r="0" t="0"/>
            </a:stretch>
          </a:blipFill>
          <a:ln>
            <a:noFill/>
          </a:ln>
        </p:spPr>
      </p:sp>
      <p:sp>
        <p:nvSpPr>
          <p:cNvPr id="390" name="Google Shape;390;p20"/>
          <p:cNvSpPr/>
          <p:nvPr/>
        </p:nvSpPr>
        <p:spPr>
          <a:xfrm>
            <a:off x="3861126" y="440831"/>
            <a:ext cx="1421749" cy="1398484"/>
          </a:xfrm>
          <a:custGeom>
            <a:rect b="b" l="l" r="r" t="t"/>
            <a:pathLst>
              <a:path extrusionOk="0" h="2796968" w="2843498">
                <a:moveTo>
                  <a:pt x="0" y="0"/>
                </a:moveTo>
                <a:lnTo>
                  <a:pt x="2843498" y="0"/>
                </a:lnTo>
                <a:lnTo>
                  <a:pt x="2843498" y="2796968"/>
                </a:lnTo>
                <a:lnTo>
                  <a:pt x="0" y="27969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1" name="Google Shape;391;p20"/>
          <p:cNvSpPr txBox="1"/>
          <p:nvPr/>
        </p:nvSpPr>
        <p:spPr>
          <a:xfrm>
            <a:off x="2735238" y="4017103"/>
            <a:ext cx="4136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A conference by Gopal Mahaseth</a:t>
            </a:r>
            <a:endParaRPr sz="700"/>
          </a:p>
        </p:txBody>
      </p:sp>
      <p:grpSp>
        <p:nvGrpSpPr>
          <p:cNvPr id="392" name="Google Shape;392;p20"/>
          <p:cNvGrpSpPr/>
          <p:nvPr/>
        </p:nvGrpSpPr>
        <p:grpSpPr>
          <a:xfrm>
            <a:off x="2327024" y="1997198"/>
            <a:ext cx="5215725" cy="1573578"/>
            <a:chOff x="0" y="104775"/>
            <a:chExt cx="13908600" cy="4196209"/>
          </a:xfrm>
        </p:grpSpPr>
        <p:sp>
          <p:nvSpPr>
            <p:cNvPr id="393" name="Google Shape;393;p20"/>
            <p:cNvSpPr txBox="1"/>
            <p:nvPr/>
          </p:nvSpPr>
          <p:spPr>
            <a:xfrm>
              <a:off x="852714" y="2905384"/>
              <a:ext cx="12203400" cy="139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700" u="none" cap="none" strike="noStrike">
                  <a:solidFill>
                    <a:srgbClr val="000000"/>
                  </a:solidFill>
                  <a:latin typeface="Alice"/>
                  <a:ea typeface="Alice"/>
                  <a:cs typeface="Alice"/>
                  <a:sym typeface="Alice"/>
                </a:rPr>
                <a:t>IN TODAY'S SOCIETY </a:t>
              </a:r>
              <a:endParaRPr sz="700"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700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(</a:t>
              </a:r>
              <a:r>
                <a:rPr b="1" i="1" lang="en-US" sz="1700">
                  <a:latin typeface="Inter"/>
                  <a:ea typeface="Inter"/>
                  <a:cs typeface="Inter"/>
                  <a:sym typeface="Inter"/>
                </a:rPr>
                <a:t>FROM</a:t>
              </a:r>
              <a:r>
                <a:rPr b="1" i="1" lang="en-US" sz="1700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SCHOOL PERSPECTIVE)</a:t>
              </a:r>
              <a:endParaRPr sz="700"/>
            </a:p>
          </p:txBody>
        </p:sp>
        <p:sp>
          <p:nvSpPr>
            <p:cNvPr id="394" name="Google Shape;394;p20"/>
            <p:cNvSpPr txBox="1"/>
            <p:nvPr/>
          </p:nvSpPr>
          <p:spPr>
            <a:xfrm>
              <a:off x="0" y="104775"/>
              <a:ext cx="13908600" cy="27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800" u="none" cap="none" strike="noStrike">
                  <a:solidFill>
                    <a:srgbClr val="5E17EB"/>
                  </a:solidFill>
                  <a:latin typeface="Alice"/>
                  <a:ea typeface="Alice"/>
                  <a:cs typeface="Alice"/>
                  <a:sym typeface="Alice"/>
                </a:rPr>
                <a:t>STUDENT MENTAL HEALTH: THRIVING BEYOND GRADES</a:t>
              </a:r>
              <a:endParaRPr sz="700"/>
            </a:p>
            <a:p>
              <a:pPr indent="0" lvl="0" marL="0" marR="0" rtl="0" algn="ctr">
                <a:lnSpc>
                  <a:spcPct val="3640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2800" u="none" cap="none" strike="noStrike">
                <a:solidFill>
                  <a:srgbClr val="5E17EB"/>
                </a:solidFill>
                <a:latin typeface="Alice"/>
                <a:ea typeface="Alice"/>
                <a:cs typeface="Alice"/>
                <a:sym typeface="Alice"/>
              </a:endParaRPr>
            </a:p>
          </p:txBody>
        </p:sp>
      </p:grpSp>
      <p:sp>
        <p:nvSpPr>
          <p:cNvPr id="395" name="Google Shape;395;p20"/>
          <p:cNvSpPr txBox="1"/>
          <p:nvPr/>
        </p:nvSpPr>
        <p:spPr>
          <a:xfrm>
            <a:off x="2463095" y="4652963"/>
            <a:ext cx="459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60909"/>
                </a:solidFill>
                <a:latin typeface="Inter"/>
                <a:ea typeface="Inter"/>
                <a:cs typeface="Inter"/>
                <a:sym typeface="Inter"/>
              </a:rPr>
              <a:t>Kathmandu</a:t>
            </a:r>
            <a:r>
              <a:rPr b="1" i="0" lang="en-US" sz="1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500" u="none" cap="none" strike="noStrike">
                <a:solidFill>
                  <a:srgbClr val="2646CD"/>
                </a:solidFill>
                <a:latin typeface="Inter"/>
                <a:ea typeface="Inter"/>
                <a:cs typeface="Inter"/>
                <a:sym typeface="Inter"/>
              </a:rPr>
              <a:t>Shikshalaya</a:t>
            </a:r>
            <a:r>
              <a:rPr b="1" i="0" lang="en-US" sz="1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500" u="none" cap="none" strike="noStrike">
                <a:solidFill>
                  <a:srgbClr val="2A9918"/>
                </a:solidFill>
                <a:latin typeface="Inter"/>
                <a:ea typeface="Inter"/>
                <a:cs typeface="Inter"/>
                <a:sym typeface="Inter"/>
              </a:rPr>
              <a:t>Lalitpur</a:t>
            </a:r>
            <a:endParaRPr sz="7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5EF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0" name="Google Shape;400;p21"/>
          <p:cNvGrpSpPr/>
          <p:nvPr/>
        </p:nvGrpSpPr>
        <p:grpSpPr>
          <a:xfrm>
            <a:off x="-298436" y="514350"/>
            <a:ext cx="3604337" cy="644917"/>
            <a:chOff x="0" y="0"/>
            <a:chExt cx="2312103" cy="413700"/>
          </a:xfrm>
        </p:grpSpPr>
        <p:sp>
          <p:nvSpPr>
            <p:cNvPr id="401" name="Google Shape;401;p21"/>
            <p:cNvSpPr/>
            <p:nvPr/>
          </p:nvSpPr>
          <p:spPr>
            <a:xfrm>
              <a:off x="0" y="0"/>
              <a:ext cx="2312103" cy="413557"/>
            </a:xfrm>
            <a:custGeom>
              <a:rect b="b" l="l" r="r" t="t"/>
              <a:pathLst>
                <a:path extrusionOk="0" h="413557" w="2312103">
                  <a:moveTo>
                    <a:pt x="79478" y="0"/>
                  </a:moveTo>
                  <a:lnTo>
                    <a:pt x="2232625" y="0"/>
                  </a:lnTo>
                  <a:cubicBezTo>
                    <a:pt x="2276519" y="0"/>
                    <a:pt x="2312103" y="35583"/>
                    <a:pt x="2312103" y="79478"/>
                  </a:cubicBezTo>
                  <a:lnTo>
                    <a:pt x="2312103" y="334079"/>
                  </a:lnTo>
                  <a:cubicBezTo>
                    <a:pt x="2312103" y="377974"/>
                    <a:pt x="2276519" y="413557"/>
                    <a:pt x="2232625" y="413557"/>
                  </a:cubicBezTo>
                  <a:lnTo>
                    <a:pt x="79478" y="413557"/>
                  </a:lnTo>
                  <a:cubicBezTo>
                    <a:pt x="35583" y="413557"/>
                    <a:pt x="0" y="377974"/>
                    <a:pt x="0" y="334079"/>
                  </a:cubicBezTo>
                  <a:lnTo>
                    <a:pt x="0" y="79478"/>
                  </a:lnTo>
                  <a:cubicBezTo>
                    <a:pt x="0" y="35583"/>
                    <a:pt x="35583" y="0"/>
                    <a:pt x="79478" y="0"/>
                  </a:cubicBezTo>
                  <a:close/>
                </a:path>
              </a:pathLst>
            </a:custGeom>
            <a:solidFill>
              <a:srgbClr val="EBB87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21"/>
            <p:cNvSpPr txBox="1"/>
            <p:nvPr/>
          </p:nvSpPr>
          <p:spPr>
            <a:xfrm>
              <a:off x="0" y="114300"/>
              <a:ext cx="2312100" cy="29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225" lIns="10225" spcFirstLastPara="1" rIns="10225" wrap="square" tIns="102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000" u="none" cap="none" strike="noStrike">
                  <a:solidFill>
                    <a:srgbClr val="5E17EB"/>
                  </a:solidFill>
                  <a:latin typeface="Alice"/>
                  <a:ea typeface="Alice"/>
                  <a:cs typeface="Alice"/>
                  <a:sym typeface="Alice"/>
                </a:rPr>
                <a:t>Summary</a:t>
              </a:r>
              <a:endParaRPr sz="700"/>
            </a:p>
          </p:txBody>
        </p:sp>
      </p:grpSp>
      <p:grpSp>
        <p:nvGrpSpPr>
          <p:cNvPr id="403" name="Google Shape;403;p21"/>
          <p:cNvGrpSpPr/>
          <p:nvPr/>
        </p:nvGrpSpPr>
        <p:grpSpPr>
          <a:xfrm rot="2017782">
            <a:off x="1330756" y="1768613"/>
            <a:ext cx="478007" cy="556227"/>
            <a:chOff x="0" y="0"/>
            <a:chExt cx="698500" cy="812800"/>
          </a:xfrm>
        </p:grpSpPr>
        <p:sp>
          <p:nvSpPr>
            <p:cNvPr id="404" name="Google Shape;404;p21"/>
            <p:cNvSpPr/>
            <p:nvPr/>
          </p:nvSpPr>
          <p:spPr>
            <a:xfrm>
              <a:off x="0" y="0"/>
              <a:ext cx="698500" cy="812800"/>
            </a:xfrm>
            <a:custGeom>
              <a:rect b="b" l="l" r="r" t="t"/>
              <a:pathLst>
                <a:path extrusionOk="0"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E4E3B3"/>
            </a:solidFill>
            <a:ln>
              <a:noFill/>
            </a:ln>
          </p:spPr>
        </p:sp>
        <p:sp>
          <p:nvSpPr>
            <p:cNvPr id="405" name="Google Shape;405;p21"/>
            <p:cNvSpPr txBox="1"/>
            <p:nvPr/>
          </p:nvSpPr>
          <p:spPr>
            <a:xfrm>
              <a:off x="0" y="120650"/>
              <a:ext cx="6984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225" lIns="10225" spcFirstLastPara="1" rIns="10225" wrap="square" tIns="10225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6" name="Google Shape;406;p21"/>
          <p:cNvGrpSpPr/>
          <p:nvPr/>
        </p:nvGrpSpPr>
        <p:grpSpPr>
          <a:xfrm rot="2017782">
            <a:off x="1330756" y="2610758"/>
            <a:ext cx="478007" cy="556227"/>
            <a:chOff x="0" y="0"/>
            <a:chExt cx="698500" cy="812800"/>
          </a:xfrm>
        </p:grpSpPr>
        <p:sp>
          <p:nvSpPr>
            <p:cNvPr id="407" name="Google Shape;407;p21"/>
            <p:cNvSpPr/>
            <p:nvPr/>
          </p:nvSpPr>
          <p:spPr>
            <a:xfrm>
              <a:off x="0" y="0"/>
              <a:ext cx="698500" cy="812800"/>
            </a:xfrm>
            <a:custGeom>
              <a:rect b="b" l="l" r="r" t="t"/>
              <a:pathLst>
                <a:path extrusionOk="0"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A9CFC5"/>
            </a:solidFill>
            <a:ln>
              <a:noFill/>
            </a:ln>
          </p:spPr>
        </p:sp>
        <p:sp>
          <p:nvSpPr>
            <p:cNvPr id="408" name="Google Shape;408;p21"/>
            <p:cNvSpPr txBox="1"/>
            <p:nvPr/>
          </p:nvSpPr>
          <p:spPr>
            <a:xfrm>
              <a:off x="0" y="120650"/>
              <a:ext cx="6984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225" lIns="10225" spcFirstLastPara="1" rIns="10225" wrap="square" tIns="10225">
              <a:noAutofit/>
            </a:bodyPr>
            <a:lstStyle/>
            <a:p>
              <a:pPr indent="0" lvl="0" marL="0" marR="0" rtl="0" algn="ctr">
                <a:lnSpc>
                  <a:spcPct val="7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9" name="Google Shape;409;p21"/>
          <p:cNvGrpSpPr/>
          <p:nvPr/>
        </p:nvGrpSpPr>
        <p:grpSpPr>
          <a:xfrm rot="2017782">
            <a:off x="1330756" y="3418795"/>
            <a:ext cx="478007" cy="556227"/>
            <a:chOff x="0" y="0"/>
            <a:chExt cx="698500" cy="812800"/>
          </a:xfrm>
        </p:grpSpPr>
        <p:sp>
          <p:nvSpPr>
            <p:cNvPr id="410" name="Google Shape;410;p21"/>
            <p:cNvSpPr/>
            <p:nvPr/>
          </p:nvSpPr>
          <p:spPr>
            <a:xfrm>
              <a:off x="0" y="0"/>
              <a:ext cx="698500" cy="812800"/>
            </a:xfrm>
            <a:custGeom>
              <a:rect b="b" l="l" r="r" t="t"/>
              <a:pathLst>
                <a:path extrusionOk="0"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F4DA90"/>
            </a:solidFill>
            <a:ln>
              <a:noFill/>
            </a:ln>
          </p:spPr>
        </p:sp>
        <p:sp>
          <p:nvSpPr>
            <p:cNvPr id="411" name="Google Shape;411;p21"/>
            <p:cNvSpPr txBox="1"/>
            <p:nvPr/>
          </p:nvSpPr>
          <p:spPr>
            <a:xfrm>
              <a:off x="0" y="120650"/>
              <a:ext cx="6984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225" lIns="10225" spcFirstLastPara="1" rIns="10225" wrap="square" tIns="10225">
              <a:noAutofit/>
            </a:bodyPr>
            <a:lstStyle/>
            <a:p>
              <a:pPr indent="0" lvl="0" marL="0" marR="0" rtl="0" algn="ctr">
                <a:lnSpc>
                  <a:spcPct val="7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2" name="Google Shape;412;p21"/>
          <p:cNvGrpSpPr/>
          <p:nvPr/>
        </p:nvGrpSpPr>
        <p:grpSpPr>
          <a:xfrm rot="2017782">
            <a:off x="5114815" y="1768613"/>
            <a:ext cx="478007" cy="556227"/>
            <a:chOff x="0" y="0"/>
            <a:chExt cx="698500" cy="812800"/>
          </a:xfrm>
        </p:grpSpPr>
        <p:sp>
          <p:nvSpPr>
            <p:cNvPr id="413" name="Google Shape;413;p21"/>
            <p:cNvSpPr/>
            <p:nvPr/>
          </p:nvSpPr>
          <p:spPr>
            <a:xfrm>
              <a:off x="0" y="0"/>
              <a:ext cx="698500" cy="812800"/>
            </a:xfrm>
            <a:custGeom>
              <a:rect b="b" l="l" r="r" t="t"/>
              <a:pathLst>
                <a:path extrusionOk="0"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F6CDBF"/>
            </a:solidFill>
            <a:ln>
              <a:noFill/>
            </a:ln>
          </p:spPr>
        </p:sp>
        <p:sp>
          <p:nvSpPr>
            <p:cNvPr id="414" name="Google Shape;414;p21"/>
            <p:cNvSpPr txBox="1"/>
            <p:nvPr/>
          </p:nvSpPr>
          <p:spPr>
            <a:xfrm>
              <a:off x="0" y="120650"/>
              <a:ext cx="6984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225" lIns="10225" spcFirstLastPara="1" rIns="10225" wrap="square" tIns="10225">
              <a:noAutofit/>
            </a:bodyPr>
            <a:lstStyle/>
            <a:p>
              <a:pPr indent="0" lvl="0" marL="0" marR="0" rtl="0" algn="ctr">
                <a:lnSpc>
                  <a:spcPct val="7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5" name="Google Shape;415;p21"/>
          <p:cNvGrpSpPr/>
          <p:nvPr/>
        </p:nvGrpSpPr>
        <p:grpSpPr>
          <a:xfrm rot="2017782">
            <a:off x="5097271" y="2610758"/>
            <a:ext cx="478007" cy="556227"/>
            <a:chOff x="0" y="0"/>
            <a:chExt cx="698500" cy="812800"/>
          </a:xfrm>
        </p:grpSpPr>
        <p:sp>
          <p:nvSpPr>
            <p:cNvPr id="416" name="Google Shape;416;p21"/>
            <p:cNvSpPr/>
            <p:nvPr/>
          </p:nvSpPr>
          <p:spPr>
            <a:xfrm>
              <a:off x="0" y="0"/>
              <a:ext cx="698500" cy="812800"/>
            </a:xfrm>
            <a:custGeom>
              <a:rect b="b" l="l" r="r" t="t"/>
              <a:pathLst>
                <a:path extrusionOk="0"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A9CFC5"/>
            </a:solidFill>
            <a:ln>
              <a:noFill/>
            </a:ln>
          </p:spPr>
        </p:sp>
        <p:sp>
          <p:nvSpPr>
            <p:cNvPr id="417" name="Google Shape;417;p21"/>
            <p:cNvSpPr txBox="1"/>
            <p:nvPr/>
          </p:nvSpPr>
          <p:spPr>
            <a:xfrm>
              <a:off x="0" y="120650"/>
              <a:ext cx="698400" cy="55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225" lIns="10225" spcFirstLastPara="1" rIns="10225" wrap="square" tIns="10225">
              <a:noAutofit/>
            </a:bodyPr>
            <a:lstStyle/>
            <a:p>
              <a:pPr indent="0" lvl="0" marL="0" marR="0" rtl="0" algn="ctr">
                <a:lnSpc>
                  <a:spcPct val="7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8" name="Google Shape;418;p21"/>
          <p:cNvSpPr/>
          <p:nvPr/>
        </p:nvSpPr>
        <p:spPr>
          <a:xfrm>
            <a:off x="7928290" y="3907338"/>
            <a:ext cx="701360" cy="721812"/>
          </a:xfrm>
          <a:custGeom>
            <a:rect b="b" l="l" r="r" t="t"/>
            <a:pathLst>
              <a:path extrusionOk="0" h="1443624" w="1402721">
                <a:moveTo>
                  <a:pt x="0" y="0"/>
                </a:moveTo>
                <a:lnTo>
                  <a:pt x="1402721" y="0"/>
                </a:lnTo>
                <a:lnTo>
                  <a:pt x="1402721" y="1443624"/>
                </a:lnTo>
                <a:lnTo>
                  <a:pt x="0" y="14436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9" name="Google Shape;419;p21"/>
          <p:cNvSpPr txBox="1"/>
          <p:nvPr/>
        </p:nvSpPr>
        <p:spPr>
          <a:xfrm>
            <a:off x="2042907" y="1934222"/>
            <a:ext cx="2802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Introduction</a:t>
            </a:r>
            <a:endParaRPr sz="700"/>
          </a:p>
        </p:txBody>
      </p:sp>
      <p:sp>
        <p:nvSpPr>
          <p:cNvPr id="420" name="Google Shape;420;p21"/>
          <p:cNvSpPr txBox="1"/>
          <p:nvPr/>
        </p:nvSpPr>
        <p:spPr>
          <a:xfrm>
            <a:off x="2042907" y="2776367"/>
            <a:ext cx="2802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Student Pressures</a:t>
            </a:r>
            <a:endParaRPr sz="700"/>
          </a:p>
        </p:txBody>
      </p:sp>
      <p:sp>
        <p:nvSpPr>
          <p:cNvPr id="421" name="Google Shape;421;p21"/>
          <p:cNvSpPr txBox="1"/>
          <p:nvPr/>
        </p:nvSpPr>
        <p:spPr>
          <a:xfrm>
            <a:off x="2042907" y="3584404"/>
            <a:ext cx="2802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School Perspective</a:t>
            </a:r>
            <a:endParaRPr sz="700"/>
          </a:p>
        </p:txBody>
      </p:sp>
      <p:sp>
        <p:nvSpPr>
          <p:cNvPr id="422" name="Google Shape;422;p21"/>
          <p:cNvSpPr txBox="1"/>
          <p:nvPr/>
        </p:nvSpPr>
        <p:spPr>
          <a:xfrm>
            <a:off x="5826966" y="2654923"/>
            <a:ext cx="2802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Improving Mental Health</a:t>
            </a:r>
            <a:endParaRPr sz="700"/>
          </a:p>
        </p:txBody>
      </p:sp>
      <p:sp>
        <p:nvSpPr>
          <p:cNvPr id="423" name="Google Shape;423;p21"/>
          <p:cNvSpPr txBox="1"/>
          <p:nvPr/>
        </p:nvSpPr>
        <p:spPr>
          <a:xfrm>
            <a:off x="5826966" y="1934222"/>
            <a:ext cx="2802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Math Teacher Insights</a:t>
            </a:r>
            <a:endParaRPr sz="700"/>
          </a:p>
        </p:txBody>
      </p:sp>
      <p:sp>
        <p:nvSpPr>
          <p:cNvPr id="424" name="Google Shape;424;p21"/>
          <p:cNvSpPr txBox="1"/>
          <p:nvPr/>
        </p:nvSpPr>
        <p:spPr>
          <a:xfrm>
            <a:off x="6734347" y="490538"/>
            <a:ext cx="18954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BB877"/>
                </a:solidFill>
                <a:latin typeface="Inter"/>
                <a:ea typeface="Inter"/>
                <a:cs typeface="Inter"/>
                <a:sym typeface="Inter"/>
              </a:rPr>
              <a:t>II MENTAL HEALTH CONFERENCE</a:t>
            </a:r>
            <a:endParaRPr sz="700"/>
          </a:p>
        </p:txBody>
      </p:sp>
      <p:sp>
        <p:nvSpPr>
          <p:cNvPr id="425" name="Google Shape;425;p21"/>
          <p:cNvSpPr txBox="1"/>
          <p:nvPr/>
        </p:nvSpPr>
        <p:spPr>
          <a:xfrm>
            <a:off x="2435881" y="4652963"/>
            <a:ext cx="459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60909"/>
                </a:solidFill>
                <a:latin typeface="Inter"/>
                <a:ea typeface="Inter"/>
                <a:cs typeface="Inter"/>
                <a:sym typeface="Inter"/>
              </a:rPr>
              <a:t>Kathmandu</a:t>
            </a:r>
            <a:r>
              <a:rPr b="1" i="0" lang="en-US" sz="1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500" u="none" cap="none" strike="noStrike">
                <a:solidFill>
                  <a:srgbClr val="2646CD"/>
                </a:solidFill>
                <a:latin typeface="Inter"/>
                <a:ea typeface="Inter"/>
                <a:cs typeface="Inter"/>
                <a:sym typeface="Inter"/>
              </a:rPr>
              <a:t>Shikshalaya</a:t>
            </a:r>
            <a:r>
              <a:rPr b="1" i="0" lang="en-US" sz="1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500" u="none" cap="none" strike="noStrike">
                <a:solidFill>
                  <a:srgbClr val="2A9918"/>
                </a:solidFill>
                <a:latin typeface="Inter"/>
                <a:ea typeface="Inter"/>
                <a:cs typeface="Inter"/>
                <a:sym typeface="Inter"/>
              </a:rPr>
              <a:t>Lalitpur</a:t>
            </a:r>
            <a:endParaRPr sz="7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5EF"/>
        </a:soli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0" name="Google Shape;430;p22"/>
          <p:cNvGrpSpPr/>
          <p:nvPr/>
        </p:nvGrpSpPr>
        <p:grpSpPr>
          <a:xfrm>
            <a:off x="164206" y="514350"/>
            <a:ext cx="3604337" cy="644694"/>
            <a:chOff x="0" y="0"/>
            <a:chExt cx="2312103" cy="413557"/>
          </a:xfrm>
        </p:grpSpPr>
        <p:sp>
          <p:nvSpPr>
            <p:cNvPr id="431" name="Google Shape;431;p22"/>
            <p:cNvSpPr/>
            <p:nvPr/>
          </p:nvSpPr>
          <p:spPr>
            <a:xfrm>
              <a:off x="0" y="0"/>
              <a:ext cx="2312103" cy="413557"/>
            </a:xfrm>
            <a:custGeom>
              <a:rect b="b" l="l" r="r" t="t"/>
              <a:pathLst>
                <a:path extrusionOk="0" h="413557" w="2312103">
                  <a:moveTo>
                    <a:pt x="79478" y="0"/>
                  </a:moveTo>
                  <a:lnTo>
                    <a:pt x="2232625" y="0"/>
                  </a:lnTo>
                  <a:cubicBezTo>
                    <a:pt x="2276519" y="0"/>
                    <a:pt x="2312103" y="35583"/>
                    <a:pt x="2312103" y="79478"/>
                  </a:cubicBezTo>
                  <a:lnTo>
                    <a:pt x="2312103" y="334079"/>
                  </a:lnTo>
                  <a:cubicBezTo>
                    <a:pt x="2312103" y="377974"/>
                    <a:pt x="2276519" y="413557"/>
                    <a:pt x="2232625" y="413557"/>
                  </a:cubicBezTo>
                  <a:lnTo>
                    <a:pt x="79478" y="413557"/>
                  </a:lnTo>
                  <a:cubicBezTo>
                    <a:pt x="35583" y="413557"/>
                    <a:pt x="0" y="377974"/>
                    <a:pt x="0" y="334079"/>
                  </a:cubicBezTo>
                  <a:lnTo>
                    <a:pt x="0" y="79478"/>
                  </a:lnTo>
                  <a:cubicBezTo>
                    <a:pt x="0" y="35583"/>
                    <a:pt x="35583" y="0"/>
                    <a:pt x="79478" y="0"/>
                  </a:cubicBezTo>
                  <a:close/>
                </a:path>
              </a:pathLst>
            </a:custGeom>
            <a:solidFill>
              <a:srgbClr val="EBB87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22"/>
            <p:cNvSpPr txBox="1"/>
            <p:nvPr/>
          </p:nvSpPr>
          <p:spPr>
            <a:xfrm>
              <a:off x="0" y="104775"/>
              <a:ext cx="2312100" cy="30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225" lIns="10225" spcFirstLastPara="1" rIns="10225" wrap="square" tIns="102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800" u="none" cap="none" strike="noStrike">
                  <a:solidFill>
                    <a:srgbClr val="5E17EB"/>
                  </a:solidFill>
                  <a:latin typeface="Alice"/>
                  <a:ea typeface="Alice"/>
                  <a:cs typeface="Alice"/>
                  <a:sym typeface="Alice"/>
                </a:rPr>
                <a:t>Introduction</a:t>
              </a:r>
              <a:endParaRPr sz="700"/>
            </a:p>
          </p:txBody>
        </p:sp>
      </p:grpSp>
      <p:sp>
        <p:nvSpPr>
          <p:cNvPr id="433" name="Google Shape;433;p22"/>
          <p:cNvSpPr/>
          <p:nvPr/>
        </p:nvSpPr>
        <p:spPr>
          <a:xfrm flipH="1">
            <a:off x="5717143" y="0"/>
            <a:ext cx="3426857" cy="5143500"/>
          </a:xfrm>
          <a:custGeom>
            <a:rect b="b" l="l" r="r" t="t"/>
            <a:pathLst>
              <a:path extrusionOk="0" h="10287000" w="6853714">
                <a:moveTo>
                  <a:pt x="6853714" y="0"/>
                </a:moveTo>
                <a:lnTo>
                  <a:pt x="0" y="0"/>
                </a:lnTo>
                <a:lnTo>
                  <a:pt x="0" y="10287000"/>
                </a:lnTo>
                <a:lnTo>
                  <a:pt x="6853714" y="10287000"/>
                </a:lnTo>
                <a:lnTo>
                  <a:pt x="685371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55666" r="-69457" t="0"/>
            </a:stretch>
          </a:blipFill>
          <a:ln>
            <a:noFill/>
          </a:ln>
        </p:spPr>
      </p:sp>
      <p:sp>
        <p:nvSpPr>
          <p:cNvPr id="434" name="Google Shape;434;p22"/>
          <p:cNvSpPr txBox="1"/>
          <p:nvPr/>
        </p:nvSpPr>
        <p:spPr>
          <a:xfrm>
            <a:off x="164206" y="1474085"/>
            <a:ext cx="4307700" cy="32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47650" lvl="1" marL="48260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•"/>
            </a:pPr>
            <a:r>
              <a:rPr b="1" i="0" lang="en-US" sz="2300" u="none" cap="none" strike="noStrike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STUDENT MENTAL HEALTH: THRIVING BEYOND GRADES</a:t>
            </a:r>
            <a:endParaRPr sz="700"/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300" u="none" cap="none" strike="noStrike">
              <a:solidFill>
                <a:srgbClr val="000000"/>
              </a:solidFill>
              <a:latin typeface="Alice"/>
              <a:ea typeface="Alice"/>
              <a:cs typeface="Alice"/>
              <a:sym typeface="Alice"/>
            </a:endParaRPr>
          </a:p>
          <a:p>
            <a:pPr indent="-247650" lvl="1" marL="48260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•"/>
            </a:pPr>
            <a:r>
              <a:rPr b="1" i="0" lang="en-US" sz="2300" u="none" cap="none" strike="noStrike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IMPORTANCE OF MENTAL WELLBEING IN LEARNING</a:t>
            </a:r>
            <a:endParaRPr sz="700"/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300" u="none" cap="none" strike="noStrike">
              <a:solidFill>
                <a:srgbClr val="000000"/>
              </a:solidFill>
              <a:latin typeface="Alice"/>
              <a:ea typeface="Alice"/>
              <a:cs typeface="Alice"/>
              <a:sym typeface="Alice"/>
            </a:endParaRPr>
          </a:p>
          <a:p>
            <a:pPr indent="-247650" lvl="1" marL="48260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•"/>
            </a:pPr>
            <a:r>
              <a:rPr b="1" i="0" lang="en-US" sz="2300" u="none" cap="none" strike="noStrike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INTERACTIVE START: QUESTIONS &amp; ENGAGEMENT</a:t>
            </a:r>
            <a:endParaRPr sz="700"/>
          </a:p>
        </p:txBody>
      </p:sp>
      <p:grpSp>
        <p:nvGrpSpPr>
          <p:cNvPr id="435" name="Google Shape;435;p22"/>
          <p:cNvGrpSpPr/>
          <p:nvPr/>
        </p:nvGrpSpPr>
        <p:grpSpPr>
          <a:xfrm rot="1781737">
            <a:off x="4451729" y="1878347"/>
            <a:ext cx="1537178" cy="2151774"/>
            <a:chOff x="4763" y="0"/>
            <a:chExt cx="4098525" cy="5737201"/>
          </a:xfrm>
        </p:grpSpPr>
        <p:sp>
          <p:nvSpPr>
            <p:cNvPr id="436" name="Google Shape;436;p22"/>
            <p:cNvSpPr/>
            <p:nvPr/>
          </p:nvSpPr>
          <p:spPr>
            <a:xfrm rot="1201188">
              <a:off x="679101" y="303123"/>
              <a:ext cx="2545515" cy="4388817"/>
            </a:xfrm>
            <a:custGeom>
              <a:rect b="b" l="l" r="r" t="t"/>
              <a:pathLst>
                <a:path extrusionOk="0" h="4386830" w="2544362">
                  <a:moveTo>
                    <a:pt x="0" y="0"/>
                  </a:moveTo>
                  <a:lnTo>
                    <a:pt x="2544362" y="0"/>
                  </a:lnTo>
                  <a:lnTo>
                    <a:pt x="2544362" y="4386831"/>
                  </a:lnTo>
                  <a:lnTo>
                    <a:pt x="0" y="438683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37" name="Google Shape;437;p22"/>
            <p:cNvSpPr/>
            <p:nvPr/>
          </p:nvSpPr>
          <p:spPr>
            <a:xfrm rot="-700492">
              <a:off x="2349944" y="3014811"/>
              <a:ext cx="1506178" cy="2596859"/>
            </a:xfrm>
            <a:custGeom>
              <a:rect b="b" l="l" r="r" t="t"/>
              <a:pathLst>
                <a:path extrusionOk="0" h="2595035" w="1505120">
                  <a:moveTo>
                    <a:pt x="0" y="0"/>
                  </a:moveTo>
                  <a:lnTo>
                    <a:pt x="1505121" y="0"/>
                  </a:lnTo>
                  <a:lnTo>
                    <a:pt x="1505121" y="2595035"/>
                  </a:lnTo>
                  <a:lnTo>
                    <a:pt x="0" y="259503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438" name="Google Shape;438;p22"/>
          <p:cNvSpPr txBox="1"/>
          <p:nvPr/>
        </p:nvSpPr>
        <p:spPr>
          <a:xfrm>
            <a:off x="514350" y="4773098"/>
            <a:ext cx="459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60909"/>
                </a:solidFill>
                <a:latin typeface="Inter"/>
                <a:ea typeface="Inter"/>
                <a:cs typeface="Inter"/>
                <a:sym typeface="Inter"/>
              </a:rPr>
              <a:t>Kathmandu</a:t>
            </a:r>
            <a:r>
              <a:rPr b="1" i="0" lang="en-US" sz="1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500" u="none" cap="none" strike="noStrike">
                <a:solidFill>
                  <a:srgbClr val="2646CD"/>
                </a:solidFill>
                <a:latin typeface="Inter"/>
                <a:ea typeface="Inter"/>
                <a:cs typeface="Inter"/>
                <a:sym typeface="Inter"/>
              </a:rPr>
              <a:t>Shikshalaya</a:t>
            </a:r>
            <a:r>
              <a:rPr b="1" i="0" lang="en-US" sz="1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500" u="none" cap="none" strike="noStrike">
                <a:solidFill>
                  <a:srgbClr val="2A9918"/>
                </a:solidFill>
                <a:latin typeface="Inter"/>
                <a:ea typeface="Inter"/>
                <a:cs typeface="Inter"/>
                <a:sym typeface="Inter"/>
              </a:rPr>
              <a:t>Lalitpur</a:t>
            </a:r>
            <a:endParaRPr sz="7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5EF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3" name="Google Shape;443;p23"/>
          <p:cNvGrpSpPr/>
          <p:nvPr/>
        </p:nvGrpSpPr>
        <p:grpSpPr>
          <a:xfrm>
            <a:off x="217210" y="514350"/>
            <a:ext cx="3604337" cy="644694"/>
            <a:chOff x="0" y="0"/>
            <a:chExt cx="2312103" cy="413557"/>
          </a:xfrm>
        </p:grpSpPr>
        <p:sp>
          <p:nvSpPr>
            <p:cNvPr id="444" name="Google Shape;444;p23"/>
            <p:cNvSpPr/>
            <p:nvPr/>
          </p:nvSpPr>
          <p:spPr>
            <a:xfrm>
              <a:off x="0" y="0"/>
              <a:ext cx="2312103" cy="413557"/>
            </a:xfrm>
            <a:custGeom>
              <a:rect b="b" l="l" r="r" t="t"/>
              <a:pathLst>
                <a:path extrusionOk="0" h="413557" w="2312103">
                  <a:moveTo>
                    <a:pt x="79478" y="0"/>
                  </a:moveTo>
                  <a:lnTo>
                    <a:pt x="2232625" y="0"/>
                  </a:lnTo>
                  <a:cubicBezTo>
                    <a:pt x="2276519" y="0"/>
                    <a:pt x="2312103" y="35583"/>
                    <a:pt x="2312103" y="79478"/>
                  </a:cubicBezTo>
                  <a:lnTo>
                    <a:pt x="2312103" y="334079"/>
                  </a:lnTo>
                  <a:cubicBezTo>
                    <a:pt x="2312103" y="377974"/>
                    <a:pt x="2276519" y="413557"/>
                    <a:pt x="2232625" y="413557"/>
                  </a:cubicBezTo>
                  <a:lnTo>
                    <a:pt x="79478" y="413557"/>
                  </a:lnTo>
                  <a:cubicBezTo>
                    <a:pt x="35583" y="413557"/>
                    <a:pt x="0" y="377974"/>
                    <a:pt x="0" y="334079"/>
                  </a:cubicBezTo>
                  <a:lnTo>
                    <a:pt x="0" y="79478"/>
                  </a:lnTo>
                  <a:cubicBezTo>
                    <a:pt x="0" y="35583"/>
                    <a:pt x="35583" y="0"/>
                    <a:pt x="79478" y="0"/>
                  </a:cubicBezTo>
                  <a:close/>
                </a:path>
              </a:pathLst>
            </a:custGeom>
            <a:solidFill>
              <a:srgbClr val="A9CFC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23"/>
            <p:cNvSpPr txBox="1"/>
            <p:nvPr/>
          </p:nvSpPr>
          <p:spPr>
            <a:xfrm>
              <a:off x="0" y="104775"/>
              <a:ext cx="2312100" cy="30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225" lIns="10225" spcFirstLastPara="1" rIns="10225" wrap="square" tIns="102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800" u="none" cap="none" strike="noStrike">
                  <a:solidFill>
                    <a:srgbClr val="5E17EB"/>
                  </a:solidFill>
                  <a:latin typeface="Alice"/>
                  <a:ea typeface="Alice"/>
                  <a:cs typeface="Alice"/>
                  <a:sym typeface="Alice"/>
                </a:rPr>
                <a:t>Student Pressures</a:t>
              </a:r>
              <a:endParaRPr sz="700"/>
            </a:p>
          </p:txBody>
        </p:sp>
      </p:grpSp>
      <p:grpSp>
        <p:nvGrpSpPr>
          <p:cNvPr id="446" name="Google Shape;446;p23"/>
          <p:cNvGrpSpPr/>
          <p:nvPr/>
        </p:nvGrpSpPr>
        <p:grpSpPr>
          <a:xfrm rot="2017782">
            <a:off x="1431382" y="1711609"/>
            <a:ext cx="478007" cy="556227"/>
            <a:chOff x="0" y="0"/>
            <a:chExt cx="698500" cy="812800"/>
          </a:xfrm>
        </p:grpSpPr>
        <p:sp>
          <p:nvSpPr>
            <p:cNvPr id="447" name="Google Shape;447;p23"/>
            <p:cNvSpPr/>
            <p:nvPr/>
          </p:nvSpPr>
          <p:spPr>
            <a:xfrm>
              <a:off x="0" y="0"/>
              <a:ext cx="698500" cy="812800"/>
            </a:xfrm>
            <a:custGeom>
              <a:rect b="b" l="l" r="r" t="t"/>
              <a:pathLst>
                <a:path extrusionOk="0"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E4E3B3"/>
            </a:solidFill>
            <a:ln>
              <a:noFill/>
            </a:ln>
          </p:spPr>
        </p:sp>
        <p:sp>
          <p:nvSpPr>
            <p:cNvPr id="448" name="Google Shape;448;p23"/>
            <p:cNvSpPr txBox="1"/>
            <p:nvPr/>
          </p:nvSpPr>
          <p:spPr>
            <a:xfrm>
              <a:off x="0" y="130175"/>
              <a:ext cx="698400" cy="5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225" lIns="10225" spcFirstLastPara="1" rIns="10225" wrap="square" tIns="10225">
              <a:noAutofit/>
            </a:bodyPr>
            <a:lstStyle/>
            <a:p>
              <a:pPr indent="0" lvl="0" marL="0" marR="0" rtl="0" algn="ctr">
                <a:lnSpc>
                  <a:spcPct val="37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9" name="Google Shape;449;p23"/>
          <p:cNvSpPr txBox="1"/>
          <p:nvPr/>
        </p:nvSpPr>
        <p:spPr>
          <a:xfrm>
            <a:off x="6675755" y="2501087"/>
            <a:ext cx="1631700" cy="14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Silent emotional struggles</a:t>
            </a:r>
            <a:endParaRPr sz="700"/>
          </a:p>
        </p:txBody>
      </p:sp>
      <p:sp>
        <p:nvSpPr>
          <p:cNvPr id="450" name="Google Shape;450;p23"/>
          <p:cNvSpPr txBox="1"/>
          <p:nvPr/>
        </p:nvSpPr>
        <p:spPr>
          <a:xfrm>
            <a:off x="3764292" y="3428491"/>
            <a:ext cx="1969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Comparison &amp; overload</a:t>
            </a:r>
            <a:endParaRPr sz="700"/>
          </a:p>
        </p:txBody>
      </p:sp>
      <p:sp>
        <p:nvSpPr>
          <p:cNvPr id="451" name="Google Shape;451;p23"/>
          <p:cNvSpPr txBox="1"/>
          <p:nvPr/>
        </p:nvSpPr>
        <p:spPr>
          <a:xfrm>
            <a:off x="721802" y="2543131"/>
            <a:ext cx="1563900" cy="14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Fear of failure &amp; judgment</a:t>
            </a:r>
            <a:endParaRPr sz="700"/>
          </a:p>
        </p:txBody>
      </p:sp>
      <p:grpSp>
        <p:nvGrpSpPr>
          <p:cNvPr id="452" name="Google Shape;452;p23"/>
          <p:cNvGrpSpPr/>
          <p:nvPr/>
        </p:nvGrpSpPr>
        <p:grpSpPr>
          <a:xfrm rot="2017782">
            <a:off x="7252609" y="1669565"/>
            <a:ext cx="478007" cy="556227"/>
            <a:chOff x="0" y="0"/>
            <a:chExt cx="698500" cy="812800"/>
          </a:xfrm>
        </p:grpSpPr>
        <p:sp>
          <p:nvSpPr>
            <p:cNvPr id="453" name="Google Shape;453;p23"/>
            <p:cNvSpPr/>
            <p:nvPr/>
          </p:nvSpPr>
          <p:spPr>
            <a:xfrm>
              <a:off x="0" y="0"/>
              <a:ext cx="698500" cy="812800"/>
            </a:xfrm>
            <a:custGeom>
              <a:rect b="b" l="l" r="r" t="t"/>
              <a:pathLst>
                <a:path extrusionOk="0"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A9CFC5"/>
            </a:solidFill>
            <a:ln>
              <a:noFill/>
            </a:ln>
          </p:spPr>
        </p:sp>
        <p:sp>
          <p:nvSpPr>
            <p:cNvPr id="454" name="Google Shape;454;p23"/>
            <p:cNvSpPr txBox="1"/>
            <p:nvPr/>
          </p:nvSpPr>
          <p:spPr>
            <a:xfrm>
              <a:off x="0" y="130175"/>
              <a:ext cx="698400" cy="5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225" lIns="10225" spcFirstLastPara="1" rIns="10225" wrap="square" tIns="10225">
              <a:noAutofit/>
            </a:bodyPr>
            <a:lstStyle/>
            <a:p>
              <a:pPr indent="0" lvl="0" marL="0" marR="0" rtl="0" algn="ctr">
                <a:lnSpc>
                  <a:spcPct val="37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5" name="Google Shape;455;p23"/>
          <p:cNvGrpSpPr/>
          <p:nvPr/>
        </p:nvGrpSpPr>
        <p:grpSpPr>
          <a:xfrm rot="2017782">
            <a:off x="4523736" y="2639293"/>
            <a:ext cx="478007" cy="556227"/>
            <a:chOff x="0" y="0"/>
            <a:chExt cx="698500" cy="812800"/>
          </a:xfrm>
        </p:grpSpPr>
        <p:sp>
          <p:nvSpPr>
            <p:cNvPr id="456" name="Google Shape;456;p23"/>
            <p:cNvSpPr/>
            <p:nvPr/>
          </p:nvSpPr>
          <p:spPr>
            <a:xfrm>
              <a:off x="0" y="0"/>
              <a:ext cx="698500" cy="812800"/>
            </a:xfrm>
            <a:custGeom>
              <a:rect b="b" l="l" r="r" t="t"/>
              <a:pathLst>
                <a:path extrusionOk="0"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F4DA90"/>
            </a:solidFill>
            <a:ln>
              <a:noFill/>
            </a:ln>
          </p:spPr>
        </p:sp>
        <p:sp>
          <p:nvSpPr>
            <p:cNvPr id="457" name="Google Shape;457;p23"/>
            <p:cNvSpPr txBox="1"/>
            <p:nvPr/>
          </p:nvSpPr>
          <p:spPr>
            <a:xfrm>
              <a:off x="0" y="130175"/>
              <a:ext cx="698400" cy="5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225" lIns="10225" spcFirstLastPara="1" rIns="10225" wrap="square" tIns="10225">
              <a:noAutofit/>
            </a:bodyPr>
            <a:lstStyle/>
            <a:p>
              <a:pPr indent="0" lvl="0" marL="0" marR="0" rtl="0" algn="ctr">
                <a:lnSpc>
                  <a:spcPct val="37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8" name="Google Shape;458;p23"/>
          <p:cNvSpPr txBox="1"/>
          <p:nvPr/>
        </p:nvSpPr>
        <p:spPr>
          <a:xfrm>
            <a:off x="1285849" y="1705105"/>
            <a:ext cx="7335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700"/>
          </a:p>
        </p:txBody>
      </p:sp>
      <p:sp>
        <p:nvSpPr>
          <p:cNvPr id="459" name="Google Shape;459;p23"/>
          <p:cNvSpPr txBox="1"/>
          <p:nvPr/>
        </p:nvSpPr>
        <p:spPr>
          <a:xfrm>
            <a:off x="4382318" y="2681244"/>
            <a:ext cx="7335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700"/>
          </a:p>
        </p:txBody>
      </p:sp>
      <p:sp>
        <p:nvSpPr>
          <p:cNvPr id="460" name="Google Shape;460;p23"/>
          <p:cNvSpPr txBox="1"/>
          <p:nvPr/>
        </p:nvSpPr>
        <p:spPr>
          <a:xfrm>
            <a:off x="7124895" y="1711515"/>
            <a:ext cx="7335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700"/>
          </a:p>
        </p:txBody>
      </p:sp>
      <p:sp>
        <p:nvSpPr>
          <p:cNvPr id="461" name="Google Shape;461;p23"/>
          <p:cNvSpPr txBox="1"/>
          <p:nvPr/>
        </p:nvSpPr>
        <p:spPr>
          <a:xfrm>
            <a:off x="7022986" y="490538"/>
            <a:ext cx="16068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BB877"/>
                </a:solidFill>
                <a:latin typeface="Inter"/>
                <a:ea typeface="Inter"/>
                <a:cs typeface="Inter"/>
                <a:sym typeface="Inter"/>
              </a:rPr>
              <a:t>II MENTAL HEALTH CONFERENCE</a:t>
            </a:r>
            <a:endParaRPr sz="700"/>
          </a:p>
        </p:txBody>
      </p:sp>
      <p:sp>
        <p:nvSpPr>
          <p:cNvPr id="462" name="Google Shape;462;p23"/>
          <p:cNvSpPr txBox="1"/>
          <p:nvPr/>
        </p:nvSpPr>
        <p:spPr>
          <a:xfrm>
            <a:off x="2463338" y="4761820"/>
            <a:ext cx="459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60909"/>
                </a:solidFill>
                <a:latin typeface="Inter"/>
                <a:ea typeface="Inter"/>
                <a:cs typeface="Inter"/>
                <a:sym typeface="Inter"/>
              </a:rPr>
              <a:t>Kathmandu</a:t>
            </a:r>
            <a:r>
              <a:rPr b="1" i="0" lang="en-US" sz="1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500" u="none" cap="none" strike="noStrike">
                <a:solidFill>
                  <a:srgbClr val="2646CD"/>
                </a:solidFill>
                <a:latin typeface="Inter"/>
                <a:ea typeface="Inter"/>
                <a:cs typeface="Inter"/>
                <a:sym typeface="Inter"/>
              </a:rPr>
              <a:t>Shikshalaya</a:t>
            </a:r>
            <a:r>
              <a:rPr b="1" i="0" lang="en-US" sz="1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500" u="none" cap="none" strike="noStrike">
                <a:solidFill>
                  <a:srgbClr val="2A9918"/>
                </a:solidFill>
                <a:latin typeface="Inter"/>
                <a:ea typeface="Inter"/>
                <a:cs typeface="Inter"/>
                <a:sym typeface="Inter"/>
              </a:rPr>
              <a:t>Lalitpur</a:t>
            </a:r>
            <a:endParaRPr sz="7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5EF"/>
        </a:solidFill>
      </p:bgPr>
    </p:bg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7" name="Google Shape;467;p24"/>
          <p:cNvGrpSpPr/>
          <p:nvPr/>
        </p:nvGrpSpPr>
        <p:grpSpPr>
          <a:xfrm>
            <a:off x="-298437" y="671512"/>
            <a:ext cx="6079832" cy="644694"/>
            <a:chOff x="0" y="0"/>
            <a:chExt cx="3900078" cy="413557"/>
          </a:xfrm>
        </p:grpSpPr>
        <p:sp>
          <p:nvSpPr>
            <p:cNvPr id="468" name="Google Shape;468;p24"/>
            <p:cNvSpPr/>
            <p:nvPr/>
          </p:nvSpPr>
          <p:spPr>
            <a:xfrm>
              <a:off x="0" y="0"/>
              <a:ext cx="3900078" cy="413557"/>
            </a:xfrm>
            <a:custGeom>
              <a:rect b="b" l="l" r="r" t="t"/>
              <a:pathLst>
                <a:path extrusionOk="0" h="413557" w="3900078">
                  <a:moveTo>
                    <a:pt x="47117" y="0"/>
                  </a:moveTo>
                  <a:lnTo>
                    <a:pt x="3852961" y="0"/>
                  </a:lnTo>
                  <a:cubicBezTo>
                    <a:pt x="3865457" y="0"/>
                    <a:pt x="3877442" y="4964"/>
                    <a:pt x="3886278" y="13800"/>
                  </a:cubicBezTo>
                  <a:cubicBezTo>
                    <a:pt x="3895114" y="22637"/>
                    <a:pt x="3900078" y="34621"/>
                    <a:pt x="3900078" y="47117"/>
                  </a:cubicBezTo>
                  <a:lnTo>
                    <a:pt x="3900078" y="366440"/>
                  </a:lnTo>
                  <a:cubicBezTo>
                    <a:pt x="3900078" y="378936"/>
                    <a:pt x="3895114" y="390921"/>
                    <a:pt x="3886278" y="399757"/>
                  </a:cubicBezTo>
                  <a:cubicBezTo>
                    <a:pt x="3877442" y="408593"/>
                    <a:pt x="3865457" y="413557"/>
                    <a:pt x="3852961" y="413557"/>
                  </a:cubicBezTo>
                  <a:lnTo>
                    <a:pt x="47117" y="413557"/>
                  </a:lnTo>
                  <a:cubicBezTo>
                    <a:pt x="21095" y="413557"/>
                    <a:pt x="0" y="392462"/>
                    <a:pt x="0" y="366440"/>
                  </a:cubicBezTo>
                  <a:lnTo>
                    <a:pt x="0" y="47117"/>
                  </a:lnTo>
                  <a:cubicBezTo>
                    <a:pt x="0" y="21095"/>
                    <a:pt x="21095" y="0"/>
                    <a:pt x="47117" y="0"/>
                  </a:cubicBezTo>
                  <a:close/>
                </a:path>
              </a:pathLst>
            </a:custGeom>
            <a:solidFill>
              <a:srgbClr val="E4E3B3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24"/>
            <p:cNvSpPr txBox="1"/>
            <p:nvPr/>
          </p:nvSpPr>
          <p:spPr>
            <a:xfrm>
              <a:off x="0" y="104775"/>
              <a:ext cx="3900000" cy="30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225" lIns="10225" spcFirstLastPara="1" rIns="10225" wrap="square" tIns="102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800" u="none" cap="none" strike="noStrike">
                  <a:solidFill>
                    <a:srgbClr val="5E17EB"/>
                  </a:solidFill>
                  <a:latin typeface="Alice"/>
                  <a:ea typeface="Alice"/>
                  <a:cs typeface="Alice"/>
                  <a:sym typeface="Alice"/>
                </a:rPr>
                <a:t>School Perspective</a:t>
              </a:r>
              <a:endParaRPr sz="700"/>
            </a:p>
          </p:txBody>
        </p:sp>
      </p:grpSp>
      <p:grpSp>
        <p:nvGrpSpPr>
          <p:cNvPr id="470" name="Google Shape;470;p24"/>
          <p:cNvGrpSpPr/>
          <p:nvPr/>
        </p:nvGrpSpPr>
        <p:grpSpPr>
          <a:xfrm>
            <a:off x="514350" y="1976322"/>
            <a:ext cx="5413478" cy="700851"/>
            <a:chOff x="0" y="0"/>
            <a:chExt cx="3182527" cy="412023"/>
          </a:xfrm>
        </p:grpSpPr>
        <p:sp>
          <p:nvSpPr>
            <p:cNvPr id="471" name="Google Shape;471;p24"/>
            <p:cNvSpPr/>
            <p:nvPr/>
          </p:nvSpPr>
          <p:spPr>
            <a:xfrm>
              <a:off x="0" y="0"/>
              <a:ext cx="3182527" cy="412023"/>
            </a:xfrm>
            <a:custGeom>
              <a:rect b="b" l="l" r="r" t="t"/>
              <a:pathLst>
                <a:path extrusionOk="0" h="412023" w="3182527">
                  <a:moveTo>
                    <a:pt x="52915" y="0"/>
                  </a:moveTo>
                  <a:lnTo>
                    <a:pt x="3129613" y="0"/>
                  </a:lnTo>
                  <a:cubicBezTo>
                    <a:pt x="3158837" y="0"/>
                    <a:pt x="3182527" y="23691"/>
                    <a:pt x="3182527" y="52915"/>
                  </a:cubicBezTo>
                  <a:lnTo>
                    <a:pt x="3182527" y="359108"/>
                  </a:lnTo>
                  <a:cubicBezTo>
                    <a:pt x="3182527" y="373142"/>
                    <a:pt x="3176952" y="386601"/>
                    <a:pt x="3167029" y="396525"/>
                  </a:cubicBezTo>
                  <a:cubicBezTo>
                    <a:pt x="3157106" y="406448"/>
                    <a:pt x="3143646" y="412023"/>
                    <a:pt x="3129613" y="412023"/>
                  </a:cubicBezTo>
                  <a:lnTo>
                    <a:pt x="52915" y="412023"/>
                  </a:lnTo>
                  <a:cubicBezTo>
                    <a:pt x="23691" y="412023"/>
                    <a:pt x="0" y="388332"/>
                    <a:pt x="0" y="359108"/>
                  </a:cubicBezTo>
                  <a:lnTo>
                    <a:pt x="0" y="52915"/>
                  </a:lnTo>
                  <a:cubicBezTo>
                    <a:pt x="0" y="38881"/>
                    <a:pt x="5575" y="25422"/>
                    <a:pt x="15498" y="15498"/>
                  </a:cubicBezTo>
                  <a:cubicBezTo>
                    <a:pt x="25422" y="5575"/>
                    <a:pt x="38881" y="0"/>
                    <a:pt x="52915" y="0"/>
                  </a:cubicBezTo>
                  <a:close/>
                </a:path>
              </a:pathLst>
            </a:custGeom>
            <a:solidFill>
              <a:srgbClr val="EBB87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24"/>
            <p:cNvSpPr txBox="1"/>
            <p:nvPr/>
          </p:nvSpPr>
          <p:spPr>
            <a:xfrm>
              <a:off x="0" y="76200"/>
              <a:ext cx="3182400" cy="33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225" lIns="10225" spcFirstLastPara="1" rIns="10225" wrap="square" tIns="102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00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OBSERVATION OF STRESS SIGNALS</a:t>
              </a:r>
              <a:endParaRPr sz="700"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2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73" name="Google Shape;473;p24"/>
          <p:cNvGrpSpPr/>
          <p:nvPr/>
        </p:nvGrpSpPr>
        <p:grpSpPr>
          <a:xfrm>
            <a:off x="514350" y="2801111"/>
            <a:ext cx="5413478" cy="649736"/>
            <a:chOff x="0" y="0"/>
            <a:chExt cx="3182527" cy="381973"/>
          </a:xfrm>
        </p:grpSpPr>
        <p:sp>
          <p:nvSpPr>
            <p:cNvPr id="474" name="Google Shape;474;p24"/>
            <p:cNvSpPr/>
            <p:nvPr/>
          </p:nvSpPr>
          <p:spPr>
            <a:xfrm>
              <a:off x="0" y="0"/>
              <a:ext cx="3182527" cy="381973"/>
            </a:xfrm>
            <a:custGeom>
              <a:rect b="b" l="l" r="r" t="t"/>
              <a:pathLst>
                <a:path extrusionOk="0" h="381973" w="3182527">
                  <a:moveTo>
                    <a:pt x="52915" y="0"/>
                  </a:moveTo>
                  <a:lnTo>
                    <a:pt x="3129613" y="0"/>
                  </a:lnTo>
                  <a:cubicBezTo>
                    <a:pt x="3158837" y="0"/>
                    <a:pt x="3182527" y="23691"/>
                    <a:pt x="3182527" y="52915"/>
                  </a:cubicBezTo>
                  <a:lnTo>
                    <a:pt x="3182527" y="329058"/>
                  </a:lnTo>
                  <a:cubicBezTo>
                    <a:pt x="3182527" y="358282"/>
                    <a:pt x="3158837" y="381973"/>
                    <a:pt x="3129613" y="381973"/>
                  </a:cubicBezTo>
                  <a:lnTo>
                    <a:pt x="52915" y="381973"/>
                  </a:lnTo>
                  <a:cubicBezTo>
                    <a:pt x="38881" y="381973"/>
                    <a:pt x="25422" y="376398"/>
                    <a:pt x="15498" y="366474"/>
                  </a:cubicBezTo>
                  <a:cubicBezTo>
                    <a:pt x="5575" y="356551"/>
                    <a:pt x="0" y="343092"/>
                    <a:pt x="0" y="329058"/>
                  </a:cubicBezTo>
                  <a:lnTo>
                    <a:pt x="0" y="52915"/>
                  </a:lnTo>
                  <a:cubicBezTo>
                    <a:pt x="0" y="38881"/>
                    <a:pt x="5575" y="25422"/>
                    <a:pt x="15498" y="15498"/>
                  </a:cubicBezTo>
                  <a:cubicBezTo>
                    <a:pt x="25422" y="5575"/>
                    <a:pt x="38881" y="0"/>
                    <a:pt x="52915" y="0"/>
                  </a:cubicBezTo>
                  <a:close/>
                </a:path>
              </a:pathLst>
            </a:custGeom>
            <a:solidFill>
              <a:srgbClr val="F6CDB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24"/>
            <p:cNvSpPr txBox="1"/>
            <p:nvPr/>
          </p:nvSpPr>
          <p:spPr>
            <a:xfrm>
              <a:off x="0" y="76200"/>
              <a:ext cx="3182400" cy="30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225" lIns="10225" spcFirstLastPara="1" rIns="10225" wrap="square" tIns="102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00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CREATING SUPPORTIVE ENVIRONMENT</a:t>
              </a:r>
              <a:endParaRPr sz="700"/>
            </a:p>
          </p:txBody>
        </p:sp>
      </p:grpSp>
      <p:grpSp>
        <p:nvGrpSpPr>
          <p:cNvPr id="476" name="Google Shape;476;p24"/>
          <p:cNvGrpSpPr/>
          <p:nvPr/>
        </p:nvGrpSpPr>
        <p:grpSpPr>
          <a:xfrm>
            <a:off x="514350" y="3627538"/>
            <a:ext cx="5413478" cy="649736"/>
            <a:chOff x="0" y="0"/>
            <a:chExt cx="3182527" cy="381973"/>
          </a:xfrm>
        </p:grpSpPr>
        <p:sp>
          <p:nvSpPr>
            <p:cNvPr id="477" name="Google Shape;477;p24"/>
            <p:cNvSpPr/>
            <p:nvPr/>
          </p:nvSpPr>
          <p:spPr>
            <a:xfrm>
              <a:off x="0" y="0"/>
              <a:ext cx="3182527" cy="381973"/>
            </a:xfrm>
            <a:custGeom>
              <a:rect b="b" l="l" r="r" t="t"/>
              <a:pathLst>
                <a:path extrusionOk="0" h="381973" w="3182527">
                  <a:moveTo>
                    <a:pt x="52915" y="0"/>
                  </a:moveTo>
                  <a:lnTo>
                    <a:pt x="3129613" y="0"/>
                  </a:lnTo>
                  <a:cubicBezTo>
                    <a:pt x="3158837" y="0"/>
                    <a:pt x="3182527" y="23691"/>
                    <a:pt x="3182527" y="52915"/>
                  </a:cubicBezTo>
                  <a:lnTo>
                    <a:pt x="3182527" y="329058"/>
                  </a:lnTo>
                  <a:cubicBezTo>
                    <a:pt x="3182527" y="358282"/>
                    <a:pt x="3158837" y="381973"/>
                    <a:pt x="3129613" y="381973"/>
                  </a:cubicBezTo>
                  <a:lnTo>
                    <a:pt x="52915" y="381973"/>
                  </a:lnTo>
                  <a:cubicBezTo>
                    <a:pt x="38881" y="381973"/>
                    <a:pt x="25422" y="376398"/>
                    <a:pt x="15498" y="366474"/>
                  </a:cubicBezTo>
                  <a:cubicBezTo>
                    <a:pt x="5575" y="356551"/>
                    <a:pt x="0" y="343092"/>
                    <a:pt x="0" y="329058"/>
                  </a:cubicBezTo>
                  <a:lnTo>
                    <a:pt x="0" y="52915"/>
                  </a:lnTo>
                  <a:cubicBezTo>
                    <a:pt x="0" y="38881"/>
                    <a:pt x="5575" y="25422"/>
                    <a:pt x="15498" y="15498"/>
                  </a:cubicBezTo>
                  <a:cubicBezTo>
                    <a:pt x="25422" y="5575"/>
                    <a:pt x="38881" y="0"/>
                    <a:pt x="52915" y="0"/>
                  </a:cubicBezTo>
                  <a:close/>
                </a:path>
              </a:pathLst>
            </a:custGeom>
            <a:solidFill>
              <a:srgbClr val="EBB87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24"/>
            <p:cNvSpPr txBox="1"/>
            <p:nvPr/>
          </p:nvSpPr>
          <p:spPr>
            <a:xfrm>
              <a:off x="0" y="76200"/>
              <a:ext cx="3182400" cy="30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225" lIns="10225" spcFirstLastPara="1" rIns="10225" wrap="square" tIns="102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00" u="none" cap="none" strike="noStrike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PROMOTING HEALTHY ROUTINES</a:t>
              </a:r>
              <a:endParaRPr sz="700"/>
            </a:p>
          </p:txBody>
        </p:sp>
      </p:grpSp>
      <p:sp>
        <p:nvSpPr>
          <p:cNvPr id="479" name="Google Shape;479;p24"/>
          <p:cNvSpPr txBox="1"/>
          <p:nvPr/>
        </p:nvSpPr>
        <p:spPr>
          <a:xfrm>
            <a:off x="7022986" y="490538"/>
            <a:ext cx="16068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BB877"/>
                </a:solidFill>
                <a:latin typeface="Inter"/>
                <a:ea typeface="Inter"/>
                <a:cs typeface="Inter"/>
                <a:sym typeface="Inter"/>
              </a:rPr>
              <a:t>II MENTAL HEALTH CONFERENCE</a:t>
            </a:r>
            <a:endParaRPr sz="700"/>
          </a:p>
        </p:txBody>
      </p:sp>
      <p:sp>
        <p:nvSpPr>
          <p:cNvPr id="480" name="Google Shape;480;p24"/>
          <p:cNvSpPr txBox="1"/>
          <p:nvPr/>
        </p:nvSpPr>
        <p:spPr>
          <a:xfrm>
            <a:off x="2424176" y="4775427"/>
            <a:ext cx="459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60909"/>
                </a:solidFill>
                <a:latin typeface="Inter"/>
                <a:ea typeface="Inter"/>
                <a:cs typeface="Inter"/>
                <a:sym typeface="Inter"/>
              </a:rPr>
              <a:t>Kathmandu</a:t>
            </a:r>
            <a:r>
              <a:rPr b="1" i="0" lang="en-US" sz="1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500" u="none" cap="none" strike="noStrike">
                <a:solidFill>
                  <a:srgbClr val="2646CD"/>
                </a:solidFill>
                <a:latin typeface="Inter"/>
                <a:ea typeface="Inter"/>
                <a:cs typeface="Inter"/>
                <a:sym typeface="Inter"/>
              </a:rPr>
              <a:t>Shikshalaya</a:t>
            </a:r>
            <a:r>
              <a:rPr b="1" i="0" lang="en-US" sz="1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500" u="none" cap="none" strike="noStrike">
                <a:solidFill>
                  <a:srgbClr val="2A9918"/>
                </a:solidFill>
                <a:latin typeface="Inter"/>
                <a:ea typeface="Inter"/>
                <a:cs typeface="Inter"/>
                <a:sym typeface="Inter"/>
              </a:rPr>
              <a:t>Lalitpur</a:t>
            </a:r>
            <a:endParaRPr sz="7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5EF"/>
        </a:solidFill>
      </p:bgPr>
    </p:bg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5" name="Google Shape;485;p25"/>
          <p:cNvGrpSpPr/>
          <p:nvPr/>
        </p:nvGrpSpPr>
        <p:grpSpPr>
          <a:xfrm>
            <a:off x="-298437" y="514350"/>
            <a:ext cx="4870783" cy="644917"/>
            <a:chOff x="0" y="0"/>
            <a:chExt cx="3124500" cy="413700"/>
          </a:xfrm>
        </p:grpSpPr>
        <p:sp>
          <p:nvSpPr>
            <p:cNvPr id="486" name="Google Shape;486;p25"/>
            <p:cNvSpPr/>
            <p:nvPr/>
          </p:nvSpPr>
          <p:spPr>
            <a:xfrm>
              <a:off x="0" y="0"/>
              <a:ext cx="3124428" cy="413557"/>
            </a:xfrm>
            <a:custGeom>
              <a:rect b="b" l="l" r="r" t="t"/>
              <a:pathLst>
                <a:path extrusionOk="0" h="413557" w="3124428">
                  <a:moveTo>
                    <a:pt x="58814" y="0"/>
                  </a:moveTo>
                  <a:lnTo>
                    <a:pt x="3065614" y="0"/>
                  </a:lnTo>
                  <a:cubicBezTo>
                    <a:pt x="3081212" y="0"/>
                    <a:pt x="3096172" y="6196"/>
                    <a:pt x="3107202" y="17226"/>
                  </a:cubicBezTo>
                  <a:cubicBezTo>
                    <a:pt x="3118231" y="28256"/>
                    <a:pt x="3124428" y="43216"/>
                    <a:pt x="3124428" y="58814"/>
                  </a:cubicBezTo>
                  <a:lnTo>
                    <a:pt x="3124428" y="354743"/>
                  </a:lnTo>
                  <a:cubicBezTo>
                    <a:pt x="3124428" y="370341"/>
                    <a:pt x="3118231" y="385301"/>
                    <a:pt x="3107202" y="396331"/>
                  </a:cubicBezTo>
                  <a:cubicBezTo>
                    <a:pt x="3096172" y="407361"/>
                    <a:pt x="3081212" y="413557"/>
                    <a:pt x="3065614" y="413557"/>
                  </a:cubicBezTo>
                  <a:lnTo>
                    <a:pt x="58814" y="413557"/>
                  </a:lnTo>
                  <a:cubicBezTo>
                    <a:pt x="26332" y="413557"/>
                    <a:pt x="0" y="387225"/>
                    <a:pt x="0" y="354743"/>
                  </a:cubicBezTo>
                  <a:lnTo>
                    <a:pt x="0" y="58814"/>
                  </a:lnTo>
                  <a:cubicBezTo>
                    <a:pt x="0" y="43216"/>
                    <a:pt x="6196" y="28256"/>
                    <a:pt x="17226" y="17226"/>
                  </a:cubicBezTo>
                  <a:cubicBezTo>
                    <a:pt x="28256" y="6196"/>
                    <a:pt x="43216" y="0"/>
                    <a:pt x="58814" y="0"/>
                  </a:cubicBezTo>
                  <a:close/>
                </a:path>
              </a:pathLst>
            </a:custGeom>
            <a:solidFill>
              <a:srgbClr val="A9CFC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25"/>
            <p:cNvSpPr txBox="1"/>
            <p:nvPr/>
          </p:nvSpPr>
          <p:spPr>
            <a:xfrm>
              <a:off x="0" y="76200"/>
              <a:ext cx="3124500" cy="3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225" lIns="10225" spcFirstLastPara="1" rIns="10225" wrap="square" tIns="102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500" u="none" cap="none" strike="noStrike">
                  <a:solidFill>
                    <a:srgbClr val="5E17EB"/>
                  </a:solidFill>
                  <a:latin typeface="Alice"/>
                  <a:ea typeface="Alice"/>
                  <a:cs typeface="Alice"/>
                  <a:sym typeface="Alice"/>
                </a:rPr>
                <a:t>Math Teacher Insights</a:t>
              </a:r>
              <a:endParaRPr sz="700"/>
            </a:p>
          </p:txBody>
        </p:sp>
      </p:grpSp>
      <p:grpSp>
        <p:nvGrpSpPr>
          <p:cNvPr id="488" name="Google Shape;488;p25"/>
          <p:cNvGrpSpPr/>
          <p:nvPr/>
        </p:nvGrpSpPr>
        <p:grpSpPr>
          <a:xfrm>
            <a:off x="878697" y="1568278"/>
            <a:ext cx="1728003" cy="1728003"/>
            <a:chOff x="0" y="0"/>
            <a:chExt cx="4608007" cy="4608007"/>
          </a:xfrm>
        </p:grpSpPr>
        <p:grpSp>
          <p:nvGrpSpPr>
            <p:cNvPr id="489" name="Google Shape;489;p25"/>
            <p:cNvGrpSpPr/>
            <p:nvPr/>
          </p:nvGrpSpPr>
          <p:grpSpPr>
            <a:xfrm>
              <a:off x="0" y="0"/>
              <a:ext cx="4608007" cy="4608007"/>
              <a:chOff x="0" y="0"/>
              <a:chExt cx="812800" cy="812800"/>
            </a:xfrm>
          </p:grpSpPr>
          <p:sp>
            <p:nvSpPr>
              <p:cNvPr id="490" name="Google Shape;490;p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1" name="Google Shape;491;p25"/>
              <p:cNvSpPr txBox="1"/>
              <p:nvPr/>
            </p:nvSpPr>
            <p:spPr>
              <a:xfrm>
                <a:off x="76200" y="66675"/>
                <a:ext cx="660300" cy="66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0225" lIns="10225" spcFirstLastPara="1" rIns="10225" wrap="square" tIns="10225">
                <a:noAutofit/>
              </a:bodyPr>
              <a:lstStyle/>
              <a:p>
                <a:pPr indent="0" lvl="0" marL="0" marR="0" rtl="0" algn="ctr">
                  <a:lnSpc>
                    <a:spcPct val="438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92" name="Google Shape;492;p25"/>
            <p:cNvSpPr/>
            <p:nvPr/>
          </p:nvSpPr>
          <p:spPr>
            <a:xfrm>
              <a:off x="808548" y="833018"/>
              <a:ext cx="2990895" cy="2941953"/>
            </a:xfrm>
            <a:custGeom>
              <a:rect b="b" l="l" r="r" t="t"/>
              <a:pathLst>
                <a:path extrusionOk="0" h="2941953" w="2990895">
                  <a:moveTo>
                    <a:pt x="0" y="0"/>
                  </a:moveTo>
                  <a:lnTo>
                    <a:pt x="2990895" y="0"/>
                  </a:lnTo>
                  <a:lnTo>
                    <a:pt x="2990895" y="2941954"/>
                  </a:lnTo>
                  <a:lnTo>
                    <a:pt x="0" y="294195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493" name="Google Shape;493;p25"/>
          <p:cNvGrpSpPr/>
          <p:nvPr/>
        </p:nvGrpSpPr>
        <p:grpSpPr>
          <a:xfrm>
            <a:off x="3784427" y="1350634"/>
            <a:ext cx="1728003" cy="1728003"/>
            <a:chOff x="0" y="0"/>
            <a:chExt cx="4608007" cy="4608007"/>
          </a:xfrm>
        </p:grpSpPr>
        <p:grpSp>
          <p:nvGrpSpPr>
            <p:cNvPr id="494" name="Google Shape;494;p25"/>
            <p:cNvGrpSpPr/>
            <p:nvPr/>
          </p:nvGrpSpPr>
          <p:grpSpPr>
            <a:xfrm>
              <a:off x="0" y="0"/>
              <a:ext cx="4608007" cy="4608007"/>
              <a:chOff x="0" y="0"/>
              <a:chExt cx="812800" cy="812800"/>
            </a:xfrm>
          </p:grpSpPr>
          <p:sp>
            <p:nvSpPr>
              <p:cNvPr id="495" name="Google Shape;495;p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6" name="Google Shape;496;p25"/>
              <p:cNvSpPr txBox="1"/>
              <p:nvPr/>
            </p:nvSpPr>
            <p:spPr>
              <a:xfrm>
                <a:off x="76200" y="66675"/>
                <a:ext cx="660300" cy="66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0225" lIns="10225" spcFirstLastPara="1" rIns="10225" wrap="square" tIns="10225">
                <a:noAutofit/>
              </a:bodyPr>
              <a:lstStyle/>
              <a:p>
                <a:pPr indent="0" lvl="0" marL="0" marR="0" rtl="0" algn="ctr">
                  <a:lnSpc>
                    <a:spcPct val="438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97" name="Google Shape;497;p25"/>
            <p:cNvSpPr/>
            <p:nvPr/>
          </p:nvSpPr>
          <p:spPr>
            <a:xfrm>
              <a:off x="707830" y="867447"/>
              <a:ext cx="3192330" cy="2873097"/>
            </a:xfrm>
            <a:custGeom>
              <a:rect b="b" l="l" r="r" t="t"/>
              <a:pathLst>
                <a:path extrusionOk="0" h="2873097" w="3192330">
                  <a:moveTo>
                    <a:pt x="0" y="0"/>
                  </a:moveTo>
                  <a:lnTo>
                    <a:pt x="3192330" y="0"/>
                  </a:lnTo>
                  <a:lnTo>
                    <a:pt x="3192330" y="2873096"/>
                  </a:lnTo>
                  <a:lnTo>
                    <a:pt x="0" y="287309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498" name="Google Shape;498;p25"/>
          <p:cNvGrpSpPr/>
          <p:nvPr/>
        </p:nvGrpSpPr>
        <p:grpSpPr>
          <a:xfrm>
            <a:off x="6690155" y="1568279"/>
            <a:ext cx="1601633" cy="1601633"/>
            <a:chOff x="0" y="0"/>
            <a:chExt cx="4271020" cy="4271020"/>
          </a:xfrm>
        </p:grpSpPr>
        <p:grpSp>
          <p:nvGrpSpPr>
            <p:cNvPr id="499" name="Google Shape;499;p25"/>
            <p:cNvGrpSpPr/>
            <p:nvPr/>
          </p:nvGrpSpPr>
          <p:grpSpPr>
            <a:xfrm>
              <a:off x="0" y="0"/>
              <a:ext cx="4271020" cy="4271020"/>
              <a:chOff x="0" y="0"/>
              <a:chExt cx="812800" cy="812800"/>
            </a:xfrm>
          </p:grpSpPr>
          <p:sp>
            <p:nvSpPr>
              <p:cNvPr id="500" name="Google Shape;500;p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1" name="Google Shape;501;p25"/>
              <p:cNvSpPr txBox="1"/>
              <p:nvPr/>
            </p:nvSpPr>
            <p:spPr>
              <a:xfrm>
                <a:off x="76200" y="66675"/>
                <a:ext cx="660300" cy="66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0225" lIns="10225" spcFirstLastPara="1" rIns="10225" wrap="square" tIns="10225">
                <a:noAutofit/>
              </a:bodyPr>
              <a:lstStyle/>
              <a:p>
                <a:pPr indent="0" lvl="0" marL="0" marR="0" rtl="0" algn="ctr">
                  <a:lnSpc>
                    <a:spcPct val="438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02" name="Google Shape;502;p25"/>
            <p:cNvSpPr/>
            <p:nvPr/>
          </p:nvSpPr>
          <p:spPr>
            <a:xfrm>
              <a:off x="751144" y="725507"/>
              <a:ext cx="2768756" cy="2820029"/>
            </a:xfrm>
            <a:custGeom>
              <a:rect b="b" l="l" r="r" t="t"/>
              <a:pathLst>
                <a:path extrusionOk="0" h="2820029" w="2768756">
                  <a:moveTo>
                    <a:pt x="0" y="0"/>
                  </a:moveTo>
                  <a:lnTo>
                    <a:pt x="2768756" y="0"/>
                  </a:lnTo>
                  <a:lnTo>
                    <a:pt x="2768756" y="2820029"/>
                  </a:lnTo>
                  <a:lnTo>
                    <a:pt x="0" y="282002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503" name="Google Shape;503;p25"/>
          <p:cNvSpPr txBox="1"/>
          <p:nvPr/>
        </p:nvSpPr>
        <p:spPr>
          <a:xfrm>
            <a:off x="7022986" y="490538"/>
            <a:ext cx="16068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BB877"/>
                </a:solidFill>
                <a:latin typeface="Inter"/>
                <a:ea typeface="Inter"/>
                <a:cs typeface="Inter"/>
                <a:sym typeface="Inter"/>
              </a:rPr>
              <a:t>II MENTAL HEALTH CONFERENCE</a:t>
            </a:r>
            <a:endParaRPr sz="700"/>
          </a:p>
        </p:txBody>
      </p:sp>
      <p:sp>
        <p:nvSpPr>
          <p:cNvPr id="504" name="Google Shape;504;p25"/>
          <p:cNvSpPr txBox="1"/>
          <p:nvPr/>
        </p:nvSpPr>
        <p:spPr>
          <a:xfrm>
            <a:off x="696524" y="3607753"/>
            <a:ext cx="18135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Pressure around math fear</a:t>
            </a:r>
            <a:endParaRPr sz="700"/>
          </a:p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5" name="Google Shape;505;p25"/>
          <p:cNvSpPr txBox="1"/>
          <p:nvPr/>
        </p:nvSpPr>
        <p:spPr>
          <a:xfrm>
            <a:off x="3784427" y="3131820"/>
            <a:ext cx="18135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Breaking big problems into smaller steps</a:t>
            </a:r>
            <a:endParaRPr sz="700"/>
          </a:p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6" name="Google Shape;506;p25"/>
          <p:cNvSpPr txBox="1"/>
          <p:nvPr/>
        </p:nvSpPr>
        <p:spPr>
          <a:xfrm>
            <a:off x="6506437" y="3602990"/>
            <a:ext cx="19692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Confidence &gt; formulas</a:t>
            </a:r>
            <a:endParaRPr sz="700"/>
          </a:p>
        </p:txBody>
      </p:sp>
      <p:sp>
        <p:nvSpPr>
          <p:cNvPr id="507" name="Google Shape;507;p25"/>
          <p:cNvSpPr txBox="1"/>
          <p:nvPr/>
        </p:nvSpPr>
        <p:spPr>
          <a:xfrm>
            <a:off x="2509921" y="4789440"/>
            <a:ext cx="459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60909"/>
                </a:solidFill>
                <a:latin typeface="Inter"/>
                <a:ea typeface="Inter"/>
                <a:cs typeface="Inter"/>
                <a:sym typeface="Inter"/>
              </a:rPr>
              <a:t>Kathmandu</a:t>
            </a:r>
            <a:r>
              <a:rPr b="1" i="0" lang="en-US" sz="1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500" u="none" cap="none" strike="noStrike">
                <a:solidFill>
                  <a:srgbClr val="2646CD"/>
                </a:solidFill>
                <a:latin typeface="Inter"/>
                <a:ea typeface="Inter"/>
                <a:cs typeface="Inter"/>
                <a:sym typeface="Inter"/>
              </a:rPr>
              <a:t>Shikshalaya</a:t>
            </a:r>
            <a:r>
              <a:rPr b="1" i="0" lang="en-US" sz="1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500" u="none" cap="none" strike="noStrike">
                <a:solidFill>
                  <a:srgbClr val="2A9918"/>
                </a:solidFill>
                <a:latin typeface="Inter"/>
                <a:ea typeface="Inter"/>
                <a:cs typeface="Inter"/>
                <a:sym typeface="Inter"/>
              </a:rPr>
              <a:t>Lalitpur</a:t>
            </a:r>
            <a:endParaRPr sz="7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5EF"/>
        </a:solidFill>
      </p:bgPr>
    </p:bg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" name="Google Shape;512;p26"/>
          <p:cNvGrpSpPr/>
          <p:nvPr/>
        </p:nvGrpSpPr>
        <p:grpSpPr>
          <a:xfrm>
            <a:off x="158047" y="514350"/>
            <a:ext cx="4414337" cy="644694"/>
            <a:chOff x="0" y="0"/>
            <a:chExt cx="2831700" cy="413557"/>
          </a:xfrm>
        </p:grpSpPr>
        <p:sp>
          <p:nvSpPr>
            <p:cNvPr id="513" name="Google Shape;513;p26"/>
            <p:cNvSpPr/>
            <p:nvPr/>
          </p:nvSpPr>
          <p:spPr>
            <a:xfrm>
              <a:off x="0" y="0"/>
              <a:ext cx="2831590" cy="413557"/>
            </a:xfrm>
            <a:custGeom>
              <a:rect b="b" l="l" r="r" t="t"/>
              <a:pathLst>
                <a:path extrusionOk="0" h="413557" w="2831590">
                  <a:moveTo>
                    <a:pt x="64897" y="0"/>
                  </a:moveTo>
                  <a:lnTo>
                    <a:pt x="2766693" y="0"/>
                  </a:lnTo>
                  <a:cubicBezTo>
                    <a:pt x="2783905" y="0"/>
                    <a:pt x="2800411" y="6837"/>
                    <a:pt x="2812582" y="19008"/>
                  </a:cubicBezTo>
                  <a:cubicBezTo>
                    <a:pt x="2824752" y="31178"/>
                    <a:pt x="2831590" y="47685"/>
                    <a:pt x="2831590" y="64897"/>
                  </a:cubicBezTo>
                  <a:lnTo>
                    <a:pt x="2831590" y="348660"/>
                  </a:lnTo>
                  <a:cubicBezTo>
                    <a:pt x="2831590" y="365872"/>
                    <a:pt x="2824752" y="382379"/>
                    <a:pt x="2812582" y="394549"/>
                  </a:cubicBezTo>
                  <a:cubicBezTo>
                    <a:pt x="2800411" y="406720"/>
                    <a:pt x="2783905" y="413557"/>
                    <a:pt x="2766693" y="413557"/>
                  </a:cubicBezTo>
                  <a:lnTo>
                    <a:pt x="64897" y="413557"/>
                  </a:lnTo>
                  <a:cubicBezTo>
                    <a:pt x="29055" y="413557"/>
                    <a:pt x="0" y="384502"/>
                    <a:pt x="0" y="348660"/>
                  </a:cubicBezTo>
                  <a:lnTo>
                    <a:pt x="0" y="64897"/>
                  </a:lnTo>
                  <a:cubicBezTo>
                    <a:pt x="0" y="29055"/>
                    <a:pt x="29055" y="0"/>
                    <a:pt x="64897" y="0"/>
                  </a:cubicBezTo>
                  <a:close/>
                </a:path>
              </a:pathLst>
            </a:custGeom>
            <a:solidFill>
              <a:srgbClr val="F4DA9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26"/>
            <p:cNvSpPr txBox="1"/>
            <p:nvPr/>
          </p:nvSpPr>
          <p:spPr>
            <a:xfrm>
              <a:off x="0" y="104775"/>
              <a:ext cx="2831700" cy="30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225" lIns="10225" spcFirstLastPara="1" rIns="10225" wrap="square" tIns="102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800" u="none" cap="none" strike="noStrike">
                  <a:solidFill>
                    <a:srgbClr val="5E17EB"/>
                  </a:solidFill>
                  <a:latin typeface="Alice"/>
                  <a:ea typeface="Alice"/>
                  <a:cs typeface="Alice"/>
                  <a:sym typeface="Alice"/>
                </a:rPr>
                <a:t>Improving Mental Health</a:t>
              </a:r>
              <a:endParaRPr sz="700"/>
            </a:p>
          </p:txBody>
        </p:sp>
      </p:grpSp>
      <p:grpSp>
        <p:nvGrpSpPr>
          <p:cNvPr id="515" name="Google Shape;515;p26"/>
          <p:cNvGrpSpPr/>
          <p:nvPr/>
        </p:nvGrpSpPr>
        <p:grpSpPr>
          <a:xfrm>
            <a:off x="3586256" y="1543504"/>
            <a:ext cx="2372035" cy="2823754"/>
            <a:chOff x="0" y="0"/>
            <a:chExt cx="1521706" cy="1811376"/>
          </a:xfrm>
        </p:grpSpPr>
        <p:sp>
          <p:nvSpPr>
            <p:cNvPr id="516" name="Google Shape;516;p26"/>
            <p:cNvSpPr/>
            <p:nvPr/>
          </p:nvSpPr>
          <p:spPr>
            <a:xfrm>
              <a:off x="0" y="0"/>
              <a:ext cx="1521706" cy="1811376"/>
            </a:xfrm>
            <a:custGeom>
              <a:rect b="b" l="l" r="r" t="t"/>
              <a:pathLst>
                <a:path extrusionOk="0" h="1811376" w="1521706">
                  <a:moveTo>
                    <a:pt x="120760" y="0"/>
                  </a:moveTo>
                  <a:lnTo>
                    <a:pt x="1400946" y="0"/>
                  </a:lnTo>
                  <a:cubicBezTo>
                    <a:pt x="1432973" y="0"/>
                    <a:pt x="1463689" y="12723"/>
                    <a:pt x="1486336" y="35370"/>
                  </a:cubicBezTo>
                  <a:cubicBezTo>
                    <a:pt x="1508983" y="58017"/>
                    <a:pt x="1521706" y="88732"/>
                    <a:pt x="1521706" y="120760"/>
                  </a:cubicBezTo>
                  <a:lnTo>
                    <a:pt x="1521706" y="1690616"/>
                  </a:lnTo>
                  <a:cubicBezTo>
                    <a:pt x="1521706" y="1757310"/>
                    <a:pt x="1467640" y="1811376"/>
                    <a:pt x="1400946" y="1811376"/>
                  </a:cubicBezTo>
                  <a:lnTo>
                    <a:pt x="120760" y="1811376"/>
                  </a:lnTo>
                  <a:cubicBezTo>
                    <a:pt x="54066" y="1811376"/>
                    <a:pt x="0" y="1757310"/>
                    <a:pt x="0" y="1690616"/>
                  </a:cubicBezTo>
                  <a:lnTo>
                    <a:pt x="0" y="120760"/>
                  </a:lnTo>
                  <a:cubicBezTo>
                    <a:pt x="0" y="54066"/>
                    <a:pt x="54066" y="0"/>
                    <a:pt x="120760" y="0"/>
                  </a:cubicBezTo>
                  <a:close/>
                </a:path>
              </a:pathLst>
            </a:custGeom>
            <a:solidFill>
              <a:srgbClr val="A9CFC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26"/>
            <p:cNvSpPr txBox="1"/>
            <p:nvPr/>
          </p:nvSpPr>
          <p:spPr>
            <a:xfrm>
              <a:off x="0" y="95250"/>
              <a:ext cx="1521600" cy="17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225" lIns="10225" spcFirstLastPara="1" rIns="10225" wrap="square" tIns="10225">
              <a:noAutofit/>
            </a:bodyPr>
            <a:lstStyle/>
            <a:p>
              <a:pPr indent="0" lvl="0" marL="0" marR="0" rtl="0" algn="ctr">
                <a:lnSpc>
                  <a:spcPct val="27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8" name="Google Shape;518;p26"/>
          <p:cNvGrpSpPr/>
          <p:nvPr/>
        </p:nvGrpSpPr>
        <p:grpSpPr>
          <a:xfrm>
            <a:off x="6257577" y="1805531"/>
            <a:ext cx="2372035" cy="2823754"/>
            <a:chOff x="0" y="0"/>
            <a:chExt cx="1521706" cy="1811376"/>
          </a:xfrm>
        </p:grpSpPr>
        <p:sp>
          <p:nvSpPr>
            <p:cNvPr id="519" name="Google Shape;519;p26"/>
            <p:cNvSpPr/>
            <p:nvPr/>
          </p:nvSpPr>
          <p:spPr>
            <a:xfrm>
              <a:off x="0" y="0"/>
              <a:ext cx="1521706" cy="1811376"/>
            </a:xfrm>
            <a:custGeom>
              <a:rect b="b" l="l" r="r" t="t"/>
              <a:pathLst>
                <a:path extrusionOk="0" h="1811376" w="1521706">
                  <a:moveTo>
                    <a:pt x="120760" y="0"/>
                  </a:moveTo>
                  <a:lnTo>
                    <a:pt x="1400946" y="0"/>
                  </a:lnTo>
                  <a:cubicBezTo>
                    <a:pt x="1432973" y="0"/>
                    <a:pt x="1463689" y="12723"/>
                    <a:pt x="1486336" y="35370"/>
                  </a:cubicBezTo>
                  <a:cubicBezTo>
                    <a:pt x="1508983" y="58017"/>
                    <a:pt x="1521706" y="88732"/>
                    <a:pt x="1521706" y="120760"/>
                  </a:cubicBezTo>
                  <a:lnTo>
                    <a:pt x="1521706" y="1690616"/>
                  </a:lnTo>
                  <a:cubicBezTo>
                    <a:pt x="1521706" y="1757310"/>
                    <a:pt x="1467640" y="1811376"/>
                    <a:pt x="1400946" y="1811376"/>
                  </a:cubicBezTo>
                  <a:lnTo>
                    <a:pt x="120760" y="1811376"/>
                  </a:lnTo>
                  <a:cubicBezTo>
                    <a:pt x="54066" y="1811376"/>
                    <a:pt x="0" y="1757310"/>
                    <a:pt x="0" y="1690616"/>
                  </a:cubicBezTo>
                  <a:lnTo>
                    <a:pt x="0" y="120760"/>
                  </a:lnTo>
                  <a:cubicBezTo>
                    <a:pt x="0" y="54066"/>
                    <a:pt x="54066" y="0"/>
                    <a:pt x="120760" y="0"/>
                  </a:cubicBezTo>
                  <a:close/>
                </a:path>
              </a:pathLst>
            </a:custGeom>
            <a:solidFill>
              <a:srgbClr val="EBB87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26"/>
            <p:cNvSpPr txBox="1"/>
            <p:nvPr/>
          </p:nvSpPr>
          <p:spPr>
            <a:xfrm>
              <a:off x="0" y="95250"/>
              <a:ext cx="1521600" cy="17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225" lIns="10225" spcFirstLastPara="1" rIns="10225" wrap="square" tIns="10225">
              <a:noAutofit/>
            </a:bodyPr>
            <a:lstStyle/>
            <a:p>
              <a:pPr indent="0" lvl="0" marL="0" marR="0" rtl="0" algn="ctr">
                <a:lnSpc>
                  <a:spcPct val="27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1" name="Google Shape;521;p26"/>
          <p:cNvSpPr/>
          <p:nvPr/>
        </p:nvSpPr>
        <p:spPr>
          <a:xfrm>
            <a:off x="5399314" y="253024"/>
            <a:ext cx="559015" cy="584590"/>
          </a:xfrm>
          <a:custGeom>
            <a:rect b="b" l="l" r="r" t="t"/>
            <a:pathLst>
              <a:path extrusionOk="0" h="1169181" w="1118030">
                <a:moveTo>
                  <a:pt x="0" y="0"/>
                </a:moveTo>
                <a:lnTo>
                  <a:pt x="1118029" y="0"/>
                </a:lnTo>
                <a:lnTo>
                  <a:pt x="1118029" y="1169181"/>
                </a:lnTo>
                <a:lnTo>
                  <a:pt x="0" y="11691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22" name="Google Shape;522;p26"/>
          <p:cNvSpPr txBox="1"/>
          <p:nvPr/>
        </p:nvSpPr>
        <p:spPr>
          <a:xfrm>
            <a:off x="3932130" y="2519363"/>
            <a:ext cx="1680300" cy="14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Small-win mindset</a:t>
            </a:r>
            <a:endParaRPr sz="7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3" name="Google Shape;523;p26"/>
          <p:cNvSpPr txBox="1"/>
          <p:nvPr/>
        </p:nvSpPr>
        <p:spPr>
          <a:xfrm>
            <a:off x="6635313" y="2532335"/>
            <a:ext cx="1694700" cy="14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Balance study &amp; wellbeing</a:t>
            </a:r>
            <a:endParaRPr sz="700"/>
          </a:p>
        </p:txBody>
      </p:sp>
      <p:sp>
        <p:nvSpPr>
          <p:cNvPr id="524" name="Google Shape;524;p26"/>
          <p:cNvSpPr txBox="1"/>
          <p:nvPr/>
        </p:nvSpPr>
        <p:spPr>
          <a:xfrm>
            <a:off x="7022986" y="490538"/>
            <a:ext cx="16068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BB877"/>
                </a:solidFill>
                <a:latin typeface="Inter"/>
                <a:ea typeface="Inter"/>
                <a:cs typeface="Inter"/>
                <a:sym typeface="Inter"/>
              </a:rPr>
              <a:t>II MENTAL HEALTH CONFERENCE</a:t>
            </a:r>
            <a:endParaRPr sz="700"/>
          </a:p>
        </p:txBody>
      </p:sp>
      <p:grpSp>
        <p:nvGrpSpPr>
          <p:cNvPr id="525" name="Google Shape;525;p26"/>
          <p:cNvGrpSpPr/>
          <p:nvPr/>
        </p:nvGrpSpPr>
        <p:grpSpPr>
          <a:xfrm>
            <a:off x="738643" y="1805531"/>
            <a:ext cx="2372035" cy="2823754"/>
            <a:chOff x="0" y="0"/>
            <a:chExt cx="1521706" cy="1811376"/>
          </a:xfrm>
        </p:grpSpPr>
        <p:sp>
          <p:nvSpPr>
            <p:cNvPr id="526" name="Google Shape;526;p26"/>
            <p:cNvSpPr/>
            <p:nvPr/>
          </p:nvSpPr>
          <p:spPr>
            <a:xfrm>
              <a:off x="0" y="0"/>
              <a:ext cx="1521706" cy="1811376"/>
            </a:xfrm>
            <a:custGeom>
              <a:rect b="b" l="l" r="r" t="t"/>
              <a:pathLst>
                <a:path extrusionOk="0" h="1811376" w="1521706">
                  <a:moveTo>
                    <a:pt x="120760" y="0"/>
                  </a:moveTo>
                  <a:lnTo>
                    <a:pt x="1400946" y="0"/>
                  </a:lnTo>
                  <a:cubicBezTo>
                    <a:pt x="1432973" y="0"/>
                    <a:pt x="1463689" y="12723"/>
                    <a:pt x="1486336" y="35370"/>
                  </a:cubicBezTo>
                  <a:cubicBezTo>
                    <a:pt x="1508983" y="58017"/>
                    <a:pt x="1521706" y="88732"/>
                    <a:pt x="1521706" y="120760"/>
                  </a:cubicBezTo>
                  <a:lnTo>
                    <a:pt x="1521706" y="1690616"/>
                  </a:lnTo>
                  <a:cubicBezTo>
                    <a:pt x="1521706" y="1757310"/>
                    <a:pt x="1467640" y="1811376"/>
                    <a:pt x="1400946" y="1811376"/>
                  </a:cubicBezTo>
                  <a:lnTo>
                    <a:pt x="120760" y="1811376"/>
                  </a:lnTo>
                  <a:cubicBezTo>
                    <a:pt x="54066" y="1811376"/>
                    <a:pt x="0" y="1757310"/>
                    <a:pt x="0" y="1690616"/>
                  </a:cubicBezTo>
                  <a:lnTo>
                    <a:pt x="0" y="120760"/>
                  </a:lnTo>
                  <a:cubicBezTo>
                    <a:pt x="0" y="54066"/>
                    <a:pt x="54066" y="0"/>
                    <a:pt x="120760" y="0"/>
                  </a:cubicBezTo>
                  <a:close/>
                </a:path>
              </a:pathLst>
            </a:custGeom>
            <a:solidFill>
              <a:srgbClr val="F6CDB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26"/>
            <p:cNvSpPr txBox="1"/>
            <p:nvPr/>
          </p:nvSpPr>
          <p:spPr>
            <a:xfrm>
              <a:off x="0" y="95250"/>
              <a:ext cx="1521600" cy="17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225" lIns="10225" spcFirstLastPara="1" rIns="10225" wrap="square" tIns="10225">
              <a:noAutofit/>
            </a:bodyPr>
            <a:lstStyle/>
            <a:p>
              <a:pPr indent="0" lvl="0" marL="0" marR="0" rtl="0" algn="ctr">
                <a:lnSpc>
                  <a:spcPct val="27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8" name="Google Shape;528;p26"/>
          <p:cNvSpPr txBox="1"/>
          <p:nvPr/>
        </p:nvSpPr>
        <p:spPr>
          <a:xfrm>
            <a:off x="1058411" y="2519363"/>
            <a:ext cx="1732500" cy="18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TALK &amp; SHARE FEELINGS</a:t>
            </a:r>
            <a:endParaRPr sz="700"/>
          </a:p>
          <a:p>
            <a:pPr indent="0" lvl="0" marL="0" marR="0" rtl="0" algn="ctr">
              <a:lnSpc>
                <a:spcPct val="6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5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9" name="Google Shape;529;p26"/>
          <p:cNvSpPr txBox="1"/>
          <p:nvPr/>
        </p:nvSpPr>
        <p:spPr>
          <a:xfrm>
            <a:off x="2424176" y="4775427"/>
            <a:ext cx="459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60909"/>
                </a:solidFill>
                <a:latin typeface="Inter"/>
                <a:ea typeface="Inter"/>
                <a:cs typeface="Inter"/>
                <a:sym typeface="Inter"/>
              </a:rPr>
              <a:t>Kathmandu</a:t>
            </a:r>
            <a:r>
              <a:rPr b="1" i="0" lang="en-US" sz="1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500" u="none" cap="none" strike="noStrike">
                <a:solidFill>
                  <a:srgbClr val="2646CD"/>
                </a:solidFill>
                <a:latin typeface="Inter"/>
                <a:ea typeface="Inter"/>
                <a:cs typeface="Inter"/>
                <a:sym typeface="Inter"/>
              </a:rPr>
              <a:t>Shikshalaya</a:t>
            </a:r>
            <a:r>
              <a:rPr b="1" i="0" lang="en-US" sz="1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500" u="none" cap="none" strike="noStrike">
                <a:solidFill>
                  <a:srgbClr val="2A9918"/>
                </a:solidFill>
                <a:latin typeface="Inter"/>
                <a:ea typeface="Inter"/>
                <a:cs typeface="Inter"/>
                <a:sym typeface="Inter"/>
              </a:rPr>
              <a:t>Lalitpur</a:t>
            </a:r>
            <a:endParaRPr sz="7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27"/>
          <p:cNvSpPr/>
          <p:nvPr/>
        </p:nvSpPr>
        <p:spPr>
          <a:xfrm>
            <a:off x="381000" y="228600"/>
            <a:ext cx="492575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1E3A5F"/>
                </a:solidFill>
                <a:latin typeface="Arial"/>
                <a:ea typeface="Arial"/>
                <a:cs typeface="Arial"/>
                <a:sym typeface="Arial"/>
              </a:rPr>
              <a:t>Messages from Our Teacher 📝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gradient-08452197.png" id="536" name="Google Shape;53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1780282"/>
            <a:ext cx="4095750" cy="2211586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27"/>
          <p:cNvSpPr/>
          <p:nvPr/>
        </p:nvSpPr>
        <p:spPr>
          <a:xfrm>
            <a:off x="609600" y="2056507"/>
            <a:ext cx="3711321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💙 TO STUDENTS: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7"/>
          <p:cNvSpPr/>
          <p:nvPr/>
        </p:nvSpPr>
        <p:spPr>
          <a:xfrm>
            <a:off x="609600" y="2422178"/>
            <a:ext cx="3711321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✓ It's okay to ask teachers for help - we want to support you!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7"/>
          <p:cNvSpPr/>
          <p:nvPr/>
        </p:nvSpPr>
        <p:spPr>
          <a:xfrm>
            <a:off x="609600" y="2703165"/>
            <a:ext cx="3711321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✓ Your worth is not defined by your grades alone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7"/>
          <p:cNvSpPr/>
          <p:nvPr/>
        </p:nvSpPr>
        <p:spPr>
          <a:xfrm>
            <a:off x="609600" y="2984153"/>
            <a:ext cx="3711321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✓ Take breaks - you're not a machine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7"/>
          <p:cNvSpPr/>
          <p:nvPr/>
        </p:nvSpPr>
        <p:spPr>
          <a:xfrm>
            <a:off x="609600" y="3265140"/>
            <a:ext cx="3711321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✓ Talk to us if something feels wrong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7"/>
          <p:cNvSpPr/>
          <p:nvPr/>
        </p:nvSpPr>
        <p:spPr>
          <a:xfrm>
            <a:off x="609600" y="3603278"/>
            <a:ext cx="3711321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900"/>
              <a:buFont typeface="Arial"/>
              <a:buNone/>
            </a:pPr>
            <a:r>
              <a:rPr b="0" i="1" lang="en-US" sz="1300" u="none" cap="none" strike="noStrike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"तपाईंको जीवन ग्रेड भन्दा ठूलो छ।"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gradient-8d6be6f5.png" id="543" name="Google Shape;543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7250" y="1780282"/>
            <a:ext cx="4095750" cy="2211586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27"/>
          <p:cNvSpPr/>
          <p:nvPr/>
        </p:nvSpPr>
        <p:spPr>
          <a:xfrm>
            <a:off x="4895850" y="2056507"/>
            <a:ext cx="3711321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65100"/>
                </a:solidFill>
                <a:latin typeface="Arial"/>
                <a:ea typeface="Arial"/>
                <a:cs typeface="Arial"/>
                <a:sym typeface="Arial"/>
              </a:rPr>
              <a:t>🧡 TO PARENTS: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7"/>
          <p:cNvSpPr/>
          <p:nvPr/>
        </p:nvSpPr>
        <p:spPr>
          <a:xfrm>
            <a:off x="4895850" y="2422178"/>
            <a:ext cx="3711321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✓ Listen without judgment first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7"/>
          <p:cNvSpPr/>
          <p:nvPr/>
        </p:nvSpPr>
        <p:spPr>
          <a:xfrm>
            <a:off x="4895850" y="2703165"/>
            <a:ext cx="3711321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✓ Pressure ≠ Motivation - it can backfire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7"/>
          <p:cNvSpPr/>
          <p:nvPr/>
        </p:nvSpPr>
        <p:spPr>
          <a:xfrm>
            <a:off x="4895850" y="2984153"/>
            <a:ext cx="3711321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✓ Celebrate effort, not just results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7"/>
          <p:cNvSpPr/>
          <p:nvPr/>
        </p:nvSpPr>
        <p:spPr>
          <a:xfrm>
            <a:off x="4895850" y="3265140"/>
            <a:ext cx="3711321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✓ Your child's happiness matters most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7"/>
          <p:cNvSpPr/>
          <p:nvPr/>
        </p:nvSpPr>
        <p:spPr>
          <a:xfrm>
            <a:off x="4895850" y="3603278"/>
            <a:ext cx="3711321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900"/>
              <a:buFont typeface="Arial"/>
              <a:buNone/>
            </a:pPr>
            <a:r>
              <a:rPr b="0" i="1" lang="en-US" u="none" cap="none" strike="noStrike">
                <a:solidFill>
                  <a:srgbClr val="E65100"/>
                </a:solidFill>
                <a:latin typeface="Arial"/>
                <a:ea typeface="Arial"/>
                <a:cs typeface="Arial"/>
                <a:sym typeface="Arial"/>
              </a:rPr>
              <a:t>"उनीहरूको खुशी पनि महत्त्वपूर्ण छ।"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28"/>
          <p:cNvSpPr/>
          <p:nvPr/>
        </p:nvSpPr>
        <p:spPr>
          <a:xfrm>
            <a:off x="3274071" y="738485"/>
            <a:ext cx="2595708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LET'S PRACTICE TOGETHER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8"/>
          <p:cNvSpPr/>
          <p:nvPr/>
        </p:nvSpPr>
        <p:spPr>
          <a:xfrm>
            <a:off x="1970219" y="1180356"/>
            <a:ext cx="520356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Box Breathing Exercise 🧘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8"/>
          <p:cNvSpPr/>
          <p:nvPr/>
        </p:nvSpPr>
        <p:spPr>
          <a:xfrm>
            <a:off x="1949053" y="1961406"/>
            <a:ext cx="1201638" cy="1409402"/>
          </a:xfrm>
          <a:prstGeom prst="roundRect">
            <a:avLst>
              <a:gd fmla="val 9512" name="adj"/>
            </a:avLst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8"/>
          <p:cNvSpPr/>
          <p:nvPr/>
        </p:nvSpPr>
        <p:spPr>
          <a:xfrm>
            <a:off x="2247933" y="2151906"/>
            <a:ext cx="603879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B1FA2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7B1FA2"/>
                </a:solidFill>
                <a:latin typeface="Arial"/>
                <a:ea typeface="Arial"/>
                <a:cs typeface="Arial"/>
                <a:sym typeface="Arial"/>
              </a:rPr>
              <a:t>STEP 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8"/>
          <p:cNvSpPr/>
          <p:nvPr/>
        </p:nvSpPr>
        <p:spPr>
          <a:xfrm>
            <a:off x="2247933" y="2376636"/>
            <a:ext cx="603879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4s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8"/>
          <p:cNvSpPr/>
          <p:nvPr/>
        </p:nvSpPr>
        <p:spPr>
          <a:xfrm>
            <a:off x="2247933" y="2841427"/>
            <a:ext cx="603879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Breathe IN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8"/>
          <p:cNvSpPr/>
          <p:nvPr/>
        </p:nvSpPr>
        <p:spPr>
          <a:xfrm>
            <a:off x="2247933" y="3033713"/>
            <a:ext cx="603879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भित्र तान्नुहोस्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8"/>
          <p:cNvSpPr/>
          <p:nvPr/>
        </p:nvSpPr>
        <p:spPr>
          <a:xfrm>
            <a:off x="3341191" y="1961406"/>
            <a:ext cx="1066800" cy="1409402"/>
          </a:xfrm>
          <a:prstGeom prst="roundRect">
            <a:avLst>
              <a:gd fmla="val 10714" name="adj"/>
            </a:avLst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8"/>
          <p:cNvSpPr/>
          <p:nvPr/>
        </p:nvSpPr>
        <p:spPr>
          <a:xfrm>
            <a:off x="3641419" y="2151906"/>
            <a:ext cx="466344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B1FA2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7B1FA2"/>
                </a:solidFill>
                <a:latin typeface="Arial"/>
                <a:ea typeface="Arial"/>
                <a:cs typeface="Arial"/>
                <a:sym typeface="Arial"/>
              </a:rPr>
              <a:t>STEP 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8"/>
          <p:cNvSpPr/>
          <p:nvPr/>
        </p:nvSpPr>
        <p:spPr>
          <a:xfrm>
            <a:off x="3641419" y="2376636"/>
            <a:ext cx="466344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4s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8"/>
          <p:cNvSpPr/>
          <p:nvPr/>
        </p:nvSpPr>
        <p:spPr>
          <a:xfrm>
            <a:off x="3641419" y="2841427"/>
            <a:ext cx="466344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HOLD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8"/>
          <p:cNvSpPr/>
          <p:nvPr/>
        </p:nvSpPr>
        <p:spPr>
          <a:xfrm>
            <a:off x="3641419" y="3033713"/>
            <a:ext cx="466344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रोक्नुहोस्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8"/>
          <p:cNvSpPr/>
          <p:nvPr/>
        </p:nvSpPr>
        <p:spPr>
          <a:xfrm>
            <a:off x="4598491" y="1961406"/>
            <a:ext cx="1339155" cy="1409402"/>
          </a:xfrm>
          <a:prstGeom prst="roundRect">
            <a:avLst>
              <a:gd fmla="val 8535" name="adj"/>
            </a:avLst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8"/>
          <p:cNvSpPr/>
          <p:nvPr/>
        </p:nvSpPr>
        <p:spPr>
          <a:xfrm>
            <a:off x="4895996" y="2151906"/>
            <a:ext cx="744147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B1FA2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7B1FA2"/>
                </a:solidFill>
                <a:latin typeface="Arial"/>
                <a:ea typeface="Arial"/>
                <a:cs typeface="Arial"/>
                <a:sym typeface="Arial"/>
              </a:rPr>
              <a:t>STEP 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8"/>
          <p:cNvSpPr/>
          <p:nvPr/>
        </p:nvSpPr>
        <p:spPr>
          <a:xfrm>
            <a:off x="4895996" y="2376636"/>
            <a:ext cx="744147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4s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8"/>
          <p:cNvSpPr/>
          <p:nvPr/>
        </p:nvSpPr>
        <p:spPr>
          <a:xfrm>
            <a:off x="4895996" y="2841427"/>
            <a:ext cx="744147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Breathe OUT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8"/>
          <p:cNvSpPr/>
          <p:nvPr/>
        </p:nvSpPr>
        <p:spPr>
          <a:xfrm>
            <a:off x="4895996" y="3033713"/>
            <a:ext cx="744147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बाहिर छोड्नुहोस्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8"/>
          <p:cNvSpPr/>
          <p:nvPr/>
        </p:nvSpPr>
        <p:spPr>
          <a:xfrm>
            <a:off x="6128147" y="1961406"/>
            <a:ext cx="1066800" cy="1409402"/>
          </a:xfrm>
          <a:prstGeom prst="roundRect">
            <a:avLst>
              <a:gd fmla="val 10714" name="adj"/>
            </a:avLst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8"/>
          <p:cNvSpPr/>
          <p:nvPr/>
        </p:nvSpPr>
        <p:spPr>
          <a:xfrm>
            <a:off x="6428375" y="2151906"/>
            <a:ext cx="466344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B1FA2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7B1FA2"/>
                </a:solidFill>
                <a:latin typeface="Arial"/>
                <a:ea typeface="Arial"/>
                <a:cs typeface="Arial"/>
                <a:sym typeface="Arial"/>
              </a:rPr>
              <a:t>STEP 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8"/>
          <p:cNvSpPr/>
          <p:nvPr/>
        </p:nvSpPr>
        <p:spPr>
          <a:xfrm>
            <a:off x="6428375" y="2376636"/>
            <a:ext cx="466344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4s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8"/>
          <p:cNvSpPr/>
          <p:nvPr/>
        </p:nvSpPr>
        <p:spPr>
          <a:xfrm>
            <a:off x="6428375" y="2841427"/>
            <a:ext cx="466344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HOLD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8"/>
          <p:cNvSpPr/>
          <p:nvPr/>
        </p:nvSpPr>
        <p:spPr>
          <a:xfrm>
            <a:off x="6428375" y="3033713"/>
            <a:ext cx="466344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रोक्नुहोस्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8"/>
          <p:cNvSpPr/>
          <p:nvPr/>
        </p:nvSpPr>
        <p:spPr>
          <a:xfrm>
            <a:off x="2927700" y="3751800"/>
            <a:ext cx="32925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Repeat 3-4 times. You'll feel calmer! 💜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8"/>
          <p:cNvSpPr/>
          <p:nvPr/>
        </p:nvSpPr>
        <p:spPr>
          <a:xfrm>
            <a:off x="1726375" y="4231775"/>
            <a:ext cx="58557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Arial"/>
              <a:buNone/>
            </a:pPr>
            <a:r>
              <a:rPr b="0" i="0" lang="en-US" sz="14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Used by athletes, astronauts, and military professionals worldwide</a:t>
            </a:r>
            <a:endParaRPr b="0" i="0" sz="1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3A5F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29"/>
          <p:cNvSpPr/>
          <p:nvPr/>
        </p:nvSpPr>
        <p:spPr>
          <a:xfrm>
            <a:off x="3303825" y="675531"/>
            <a:ext cx="2536201" cy="239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INTERACTIVE SESSION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9"/>
          <p:cNvSpPr/>
          <p:nvPr/>
        </p:nvSpPr>
        <p:spPr>
          <a:xfrm>
            <a:off x="2766285" y="1220242"/>
            <a:ext cx="3611282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Q&amp;A Time! ❓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9"/>
          <p:cNvSpPr/>
          <p:nvPr/>
        </p:nvSpPr>
        <p:spPr>
          <a:xfrm>
            <a:off x="3656012" y="2058442"/>
            <a:ext cx="183182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तपाईंको प्रश्नहरू स्वागत छ!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9"/>
          <p:cNvSpPr/>
          <p:nvPr/>
        </p:nvSpPr>
        <p:spPr>
          <a:xfrm>
            <a:off x="1797546" y="2782342"/>
            <a:ext cx="1860352" cy="1017091"/>
          </a:xfrm>
          <a:prstGeom prst="roundRect">
            <a:avLst>
              <a:gd fmla="val 11238" name="adj"/>
            </a:avLst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9"/>
          <p:cNvSpPr/>
          <p:nvPr/>
        </p:nvSpPr>
        <p:spPr>
          <a:xfrm>
            <a:off x="2050977" y="2972842"/>
            <a:ext cx="1353491" cy="373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💬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9"/>
          <p:cNvSpPr/>
          <p:nvPr/>
        </p:nvSpPr>
        <p:spPr>
          <a:xfrm>
            <a:off x="2050977" y="3422303"/>
            <a:ext cx="1353491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Drop questions in chat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9"/>
          <p:cNvSpPr/>
          <p:nvPr/>
        </p:nvSpPr>
        <p:spPr>
          <a:xfrm>
            <a:off x="3886498" y="2782342"/>
            <a:ext cx="1504504" cy="1017091"/>
          </a:xfrm>
          <a:prstGeom prst="roundRect">
            <a:avLst>
              <a:gd fmla="val 11238" name="adj"/>
            </a:avLst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9"/>
          <p:cNvSpPr/>
          <p:nvPr/>
        </p:nvSpPr>
        <p:spPr>
          <a:xfrm>
            <a:off x="4143487" y="2972842"/>
            <a:ext cx="990526" cy="373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🙋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9"/>
          <p:cNvSpPr/>
          <p:nvPr/>
        </p:nvSpPr>
        <p:spPr>
          <a:xfrm>
            <a:off x="4143487" y="3422303"/>
            <a:ext cx="990526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Raise your hand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9"/>
          <p:cNvSpPr/>
          <p:nvPr/>
        </p:nvSpPr>
        <p:spPr>
          <a:xfrm>
            <a:off x="5619601" y="2782342"/>
            <a:ext cx="1726853" cy="1017091"/>
          </a:xfrm>
          <a:prstGeom prst="roundRect">
            <a:avLst>
              <a:gd fmla="val 11238" name="adj"/>
            </a:avLst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9"/>
          <p:cNvSpPr/>
          <p:nvPr/>
        </p:nvSpPr>
        <p:spPr>
          <a:xfrm>
            <a:off x="5874367" y="2972842"/>
            <a:ext cx="1217322" cy="373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🤫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9"/>
          <p:cNvSpPr/>
          <p:nvPr/>
        </p:nvSpPr>
        <p:spPr>
          <a:xfrm>
            <a:off x="5874367" y="3422303"/>
            <a:ext cx="1217322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Anonymous is okay!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29"/>
          <p:cNvSpPr/>
          <p:nvPr/>
        </p:nvSpPr>
        <p:spPr>
          <a:xfrm>
            <a:off x="2050975" y="4256625"/>
            <a:ext cx="52956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Arial"/>
              <a:buNone/>
            </a:pPr>
            <a:r>
              <a:rPr b="0" i="0" lang="en-US" sz="14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 question is too small or silly - we're here to help! 💚</a:t>
            </a:r>
            <a:endParaRPr b="0" i="0" sz="1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30"/>
          <p:cNvSpPr/>
          <p:nvPr/>
        </p:nvSpPr>
        <p:spPr>
          <a:xfrm>
            <a:off x="381000" y="228600"/>
            <a:ext cx="580986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D32F2F"/>
                </a:solidFill>
                <a:latin typeface="Arial"/>
                <a:ea typeface="Arial"/>
                <a:cs typeface="Arial"/>
                <a:sym typeface="Arial"/>
              </a:rPr>
              <a:t>🆘 Mental Health Resources in Nepal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30"/>
          <p:cNvSpPr/>
          <p:nvPr/>
        </p:nvSpPr>
        <p:spPr>
          <a:xfrm>
            <a:off x="381000" y="1707952"/>
            <a:ext cx="1981200" cy="1674168"/>
          </a:xfrm>
          <a:prstGeom prst="roundRect">
            <a:avLst>
              <a:gd fmla="val 6827" name="adj"/>
            </a:avLst>
          </a:prstGeom>
          <a:solidFill>
            <a:srgbClr val="FFEBEE"/>
          </a:solidFill>
          <a:ln cap="flat" cmpd="sng" w="19050">
            <a:solidFill>
              <a:srgbClr val="D32F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30"/>
          <p:cNvSpPr/>
          <p:nvPr/>
        </p:nvSpPr>
        <p:spPr>
          <a:xfrm>
            <a:off x="574929" y="1917502"/>
            <a:ext cx="1593342" cy="373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📞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30"/>
          <p:cNvSpPr/>
          <p:nvPr/>
        </p:nvSpPr>
        <p:spPr>
          <a:xfrm>
            <a:off x="574929" y="2366963"/>
            <a:ext cx="1593342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D32F2F"/>
                </a:solidFill>
              </a:rPr>
              <a:t>Suicide helpline number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30"/>
          <p:cNvSpPr/>
          <p:nvPr/>
        </p:nvSpPr>
        <p:spPr>
          <a:xfrm>
            <a:off x="574929" y="2629793"/>
            <a:ext cx="1593342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333333"/>
                </a:solidFill>
              </a:rPr>
              <a:t>1166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30"/>
          <p:cNvSpPr/>
          <p:nvPr/>
        </p:nvSpPr>
        <p:spPr>
          <a:xfrm>
            <a:off x="574929" y="3025973"/>
            <a:ext cx="1593342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24/7 Support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30"/>
          <p:cNvSpPr/>
          <p:nvPr/>
        </p:nvSpPr>
        <p:spPr>
          <a:xfrm>
            <a:off x="2514600" y="1707952"/>
            <a:ext cx="1981200" cy="1674168"/>
          </a:xfrm>
          <a:prstGeom prst="roundRect">
            <a:avLst>
              <a:gd fmla="val 6827" name="adj"/>
            </a:avLst>
          </a:prstGeom>
          <a:solidFill>
            <a:srgbClr val="E3F2FD"/>
          </a:solidFill>
          <a:ln cap="flat" cmpd="sng" w="1905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30"/>
          <p:cNvSpPr/>
          <p:nvPr/>
        </p:nvSpPr>
        <p:spPr>
          <a:xfrm>
            <a:off x="2708529" y="1917502"/>
            <a:ext cx="1593342" cy="373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🏥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30"/>
          <p:cNvSpPr/>
          <p:nvPr/>
        </p:nvSpPr>
        <p:spPr>
          <a:xfrm>
            <a:off x="2708529" y="2366963"/>
            <a:ext cx="1593342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TPO Nepal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30"/>
          <p:cNvSpPr/>
          <p:nvPr/>
        </p:nvSpPr>
        <p:spPr>
          <a:xfrm>
            <a:off x="2708529" y="2629793"/>
            <a:ext cx="1593342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333333"/>
                </a:solidFill>
              </a:rPr>
              <a:t>1660-010-2005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30"/>
          <p:cNvSpPr/>
          <p:nvPr/>
        </p:nvSpPr>
        <p:spPr>
          <a:xfrm>
            <a:off x="2708529" y="3025973"/>
            <a:ext cx="1593342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Psychosocial Counseling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30"/>
          <p:cNvSpPr/>
          <p:nvPr/>
        </p:nvSpPr>
        <p:spPr>
          <a:xfrm>
            <a:off x="4648200" y="1707952"/>
            <a:ext cx="1981200" cy="1674168"/>
          </a:xfrm>
          <a:prstGeom prst="roundRect">
            <a:avLst>
              <a:gd fmla="val 6827" name="adj"/>
            </a:avLst>
          </a:prstGeom>
          <a:solidFill>
            <a:srgbClr val="E8F5E9"/>
          </a:solidFill>
          <a:ln cap="flat" cmpd="sng" w="1905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30"/>
          <p:cNvSpPr/>
          <p:nvPr/>
        </p:nvSpPr>
        <p:spPr>
          <a:xfrm>
            <a:off x="4842129" y="1917502"/>
            <a:ext cx="1593342" cy="373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💚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30"/>
          <p:cNvSpPr/>
          <p:nvPr/>
        </p:nvSpPr>
        <p:spPr>
          <a:xfrm>
            <a:off x="4842150" y="2193678"/>
            <a:ext cx="15933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2E7D32"/>
                </a:solidFill>
              </a:rPr>
              <a:t>Adolescent Mental Health Unit, Lagankhel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30"/>
          <p:cNvSpPr/>
          <p:nvPr/>
        </p:nvSpPr>
        <p:spPr>
          <a:xfrm>
            <a:off x="4842129" y="2629793"/>
            <a:ext cx="1593342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333333"/>
                </a:solidFill>
              </a:rPr>
              <a:t>9765355417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30"/>
          <p:cNvSpPr/>
          <p:nvPr/>
        </p:nvSpPr>
        <p:spPr>
          <a:xfrm>
            <a:off x="4842129" y="3025973"/>
            <a:ext cx="1593342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25"/>
              <a:buFont typeface="Arial"/>
              <a:buNone/>
            </a:pPr>
            <a:r>
              <a:rPr b="0" i="0" lang="en-US" sz="825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825">
                <a:solidFill>
                  <a:srgbClr val="666666"/>
                </a:solidFill>
              </a:rPr>
              <a:t>risis support, 10 a.m.-3 p.p.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30"/>
          <p:cNvSpPr/>
          <p:nvPr/>
        </p:nvSpPr>
        <p:spPr>
          <a:xfrm>
            <a:off x="6781800" y="1707900"/>
            <a:ext cx="1981200" cy="1674300"/>
          </a:xfrm>
          <a:prstGeom prst="roundRect">
            <a:avLst>
              <a:gd fmla="val 6419" name="adj"/>
            </a:avLst>
          </a:prstGeom>
          <a:solidFill>
            <a:srgbClr val="F3E5F5"/>
          </a:solidFill>
          <a:ln cap="flat" cmpd="sng" w="19050">
            <a:solidFill>
              <a:srgbClr val="7B1F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30"/>
          <p:cNvSpPr/>
          <p:nvPr/>
        </p:nvSpPr>
        <p:spPr>
          <a:xfrm>
            <a:off x="6975729" y="1864221"/>
            <a:ext cx="1593342" cy="373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rPr>
              <a:t>🏫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30"/>
          <p:cNvSpPr/>
          <p:nvPr/>
        </p:nvSpPr>
        <p:spPr>
          <a:xfrm>
            <a:off x="6975729" y="2313682"/>
            <a:ext cx="1593342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B1FA2"/>
              </a:buClr>
              <a:buSzPts val="1050"/>
              <a:buFont typeface="Arial"/>
              <a:buNone/>
            </a:pPr>
            <a:r>
              <a:rPr b="1" lang="en-US" sz="1250">
                <a:solidFill>
                  <a:srgbClr val="7B1FA2"/>
                </a:solidFill>
              </a:rPr>
              <a:t>CWIN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30"/>
          <p:cNvSpPr/>
          <p:nvPr/>
        </p:nvSpPr>
        <p:spPr>
          <a:xfrm>
            <a:off x="6975725" y="2640887"/>
            <a:ext cx="15933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1098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30"/>
          <p:cNvSpPr/>
          <p:nvPr/>
        </p:nvSpPr>
        <p:spPr>
          <a:xfrm>
            <a:off x="6975729" y="3025979"/>
            <a:ext cx="15933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25"/>
              <a:buFont typeface="Arial"/>
              <a:buNone/>
            </a:pPr>
            <a:r>
              <a:rPr lang="en-US" sz="82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Child Helpline number</a:t>
            </a:r>
            <a:endParaRPr i="0" sz="1025" u="none" cap="none" strike="noStrike">
              <a:solidFill>
                <a:schemeClr val="dk1"/>
              </a:solidFill>
            </a:endParaRPr>
          </a:p>
        </p:txBody>
      </p:sp>
      <p:sp>
        <p:nvSpPr>
          <p:cNvPr id="623" name="Google Shape;623;p30"/>
          <p:cNvSpPr/>
          <p:nvPr/>
        </p:nvSpPr>
        <p:spPr>
          <a:xfrm>
            <a:off x="381000" y="4499670"/>
            <a:ext cx="8382000" cy="415230"/>
          </a:xfrm>
          <a:prstGeom prst="roundRect">
            <a:avLst>
              <a:gd fmla="val 18351" name="adj"/>
            </a:avLst>
          </a:prstGeom>
          <a:solidFill>
            <a:srgbClr val="FFF9C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30"/>
          <p:cNvSpPr/>
          <p:nvPr/>
        </p:nvSpPr>
        <p:spPr>
          <a:xfrm>
            <a:off x="491490" y="4613970"/>
            <a:ext cx="8161020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57F17"/>
              </a:buClr>
              <a:buSzPts val="1050"/>
              <a:buFont typeface="Arial"/>
              <a:buNone/>
            </a:pPr>
            <a:r>
              <a:rPr b="1" i="0" lang="en-US" sz="1450" u="none" cap="none" strike="noStrike">
                <a:solidFill>
                  <a:srgbClr val="F57F17"/>
                </a:solidFill>
                <a:latin typeface="Arial"/>
                <a:ea typeface="Arial"/>
                <a:cs typeface="Arial"/>
                <a:sym typeface="Arial"/>
              </a:rPr>
              <a:t>💪 Help माग्नु STRENGTH हो, weakness होइन!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3A5F"/>
        </a:solidFill>
      </p:bgPr>
    </p:bg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31"/>
          <p:cNvSpPr/>
          <p:nvPr/>
        </p:nvSpPr>
        <p:spPr>
          <a:xfrm>
            <a:off x="381000" y="228600"/>
            <a:ext cx="428453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Key Takeaways ✨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31"/>
          <p:cNvSpPr/>
          <p:nvPr/>
        </p:nvSpPr>
        <p:spPr>
          <a:xfrm>
            <a:off x="381000" y="914400"/>
            <a:ext cx="4133850" cy="1003846"/>
          </a:xfrm>
          <a:prstGeom prst="roundRect">
            <a:avLst>
              <a:gd fmla="val 11386" name="adj"/>
            </a:avLst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2" name="Google Shape;632;p31"/>
          <p:cNvCxnSpPr/>
          <p:nvPr/>
        </p:nvCxnSpPr>
        <p:spPr>
          <a:xfrm>
            <a:off x="404813" y="914400"/>
            <a:ext cx="0" cy="1003846"/>
          </a:xfrm>
          <a:prstGeom prst="straightConnector1">
            <a:avLst/>
          </a:prstGeom>
          <a:noFill/>
          <a:ln cap="flat" cmpd="sng" w="4762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3" name="Google Shape;633;p31"/>
          <p:cNvSpPr/>
          <p:nvPr/>
        </p:nvSpPr>
        <p:spPr>
          <a:xfrm>
            <a:off x="600075" y="1085850"/>
            <a:ext cx="38181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✅</a:t>
            </a: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Mental health</a:t>
            </a: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is just as important as physical health - everyone has it!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31"/>
          <p:cNvSpPr/>
          <p:nvPr/>
        </p:nvSpPr>
        <p:spPr>
          <a:xfrm>
            <a:off x="600075" y="1600200"/>
            <a:ext cx="3818192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25"/>
              <a:buFont typeface="Arial"/>
              <a:buNone/>
            </a:pPr>
            <a:r>
              <a:rPr b="0" i="0" lang="en-US" sz="1225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मानसिक स्वास्थ्य सबैको हुन्छ</a:t>
            </a:r>
            <a:endParaRPr b="0" i="0" sz="12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31"/>
          <p:cNvSpPr/>
          <p:nvPr/>
        </p:nvSpPr>
        <p:spPr>
          <a:xfrm>
            <a:off x="4629150" y="914400"/>
            <a:ext cx="4133850" cy="1003846"/>
          </a:xfrm>
          <a:prstGeom prst="roundRect">
            <a:avLst>
              <a:gd fmla="val 11386" name="adj"/>
            </a:avLst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6" name="Google Shape;636;p31"/>
          <p:cNvCxnSpPr/>
          <p:nvPr/>
        </p:nvCxnSpPr>
        <p:spPr>
          <a:xfrm>
            <a:off x="4652963" y="914400"/>
            <a:ext cx="0" cy="1003846"/>
          </a:xfrm>
          <a:prstGeom prst="straightConnector1">
            <a:avLst/>
          </a:prstGeom>
          <a:noFill/>
          <a:ln cap="flat" cmpd="sng" w="47625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7" name="Google Shape;637;p31"/>
          <p:cNvSpPr/>
          <p:nvPr/>
        </p:nvSpPr>
        <p:spPr>
          <a:xfrm>
            <a:off x="4848225" y="1085850"/>
            <a:ext cx="38181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✅</a:t>
            </a: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Stress is normal</a:t>
            </a: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, but know the warning signs when it becomes too much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31"/>
          <p:cNvSpPr/>
          <p:nvPr/>
        </p:nvSpPr>
        <p:spPr>
          <a:xfrm>
            <a:off x="4848225" y="1600200"/>
            <a:ext cx="3818192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25"/>
              <a:buFont typeface="Arial"/>
              <a:buNone/>
            </a:pPr>
            <a:r>
              <a:rPr b="0" i="0" lang="en-US" sz="1225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तनाव सामान्य हो, तर संकेत चिन्नुहोस्</a:t>
            </a:r>
            <a:endParaRPr b="0" i="0" sz="12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31"/>
          <p:cNvSpPr/>
          <p:nvPr/>
        </p:nvSpPr>
        <p:spPr>
          <a:xfrm>
            <a:off x="381000" y="2032546"/>
            <a:ext cx="4133850" cy="1003846"/>
          </a:xfrm>
          <a:prstGeom prst="roundRect">
            <a:avLst>
              <a:gd fmla="val 11386" name="adj"/>
            </a:avLst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0" name="Google Shape;640;p31"/>
          <p:cNvCxnSpPr/>
          <p:nvPr/>
        </p:nvCxnSpPr>
        <p:spPr>
          <a:xfrm>
            <a:off x="404813" y="2032546"/>
            <a:ext cx="0" cy="1003846"/>
          </a:xfrm>
          <a:prstGeom prst="straightConnector1">
            <a:avLst/>
          </a:prstGeom>
          <a:noFill/>
          <a:ln cap="flat" cmpd="sng" w="47625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1" name="Google Shape;641;p31"/>
          <p:cNvSpPr/>
          <p:nvPr/>
        </p:nvSpPr>
        <p:spPr>
          <a:xfrm>
            <a:off x="600075" y="2203996"/>
            <a:ext cx="38181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✅</a:t>
            </a: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Self-care daily</a:t>
            </a: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: NEP Rule (Nidra, Exercise, Paani) + breathing exercises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31"/>
          <p:cNvSpPr/>
          <p:nvPr/>
        </p:nvSpPr>
        <p:spPr>
          <a:xfrm>
            <a:off x="600075" y="2718346"/>
            <a:ext cx="3818192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25"/>
              <a:buFont typeface="Arial"/>
              <a:buNone/>
            </a:pPr>
            <a:r>
              <a:rPr b="0" i="0" lang="en-US" sz="1225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दैनिक स्व-हेरचाह गर्नुहोस्</a:t>
            </a:r>
            <a:endParaRPr b="0" i="0" sz="12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31"/>
          <p:cNvSpPr/>
          <p:nvPr/>
        </p:nvSpPr>
        <p:spPr>
          <a:xfrm>
            <a:off x="4629150" y="2132558"/>
            <a:ext cx="4133850" cy="803821"/>
          </a:xfrm>
          <a:prstGeom prst="roundRect">
            <a:avLst>
              <a:gd fmla="val 14220" name="adj"/>
            </a:avLst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4" name="Google Shape;644;p31"/>
          <p:cNvCxnSpPr/>
          <p:nvPr/>
        </p:nvCxnSpPr>
        <p:spPr>
          <a:xfrm>
            <a:off x="4652963" y="2132558"/>
            <a:ext cx="0" cy="803821"/>
          </a:xfrm>
          <a:prstGeom prst="straightConnector1">
            <a:avLst/>
          </a:prstGeom>
          <a:noFill/>
          <a:ln cap="flat" cmpd="sng" w="47625">
            <a:solidFill>
              <a:srgbClr val="7B1FA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5" name="Google Shape;645;p31"/>
          <p:cNvSpPr/>
          <p:nvPr/>
        </p:nvSpPr>
        <p:spPr>
          <a:xfrm>
            <a:off x="4848225" y="2304008"/>
            <a:ext cx="381819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✅</a:t>
            </a: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Asking for help</a:t>
            </a:r>
            <a:r>
              <a:rPr b="0" i="0" lang="en-US" sz="1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is a sign of STRENGTH, not weakness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31"/>
          <p:cNvSpPr/>
          <p:nvPr/>
        </p:nvSpPr>
        <p:spPr>
          <a:xfrm>
            <a:off x="4848225" y="2618333"/>
            <a:ext cx="3818192" cy="146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25"/>
              <a:buFont typeface="Arial"/>
              <a:buNone/>
            </a:pPr>
            <a:r>
              <a:rPr b="0" i="0" lang="en-US" sz="1225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सहयोग माग्नु बल हो</a:t>
            </a:r>
            <a:endParaRPr b="0" i="0" sz="12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rasterized-gradient-6b795554.png" id="647" name="Google Shape;64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3150691"/>
            <a:ext cx="8382000" cy="636240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p31"/>
          <p:cNvSpPr/>
          <p:nvPr/>
        </p:nvSpPr>
        <p:spPr>
          <a:xfrm>
            <a:off x="472059" y="3322141"/>
            <a:ext cx="8199882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💚</a:t>
            </a:r>
            <a:r>
              <a:rPr b="0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YOU ARE NOT ALONE! तपाईं एक्लो हुनुहुन्न!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32"/>
          <p:cNvSpPr/>
          <p:nvPr/>
        </p:nvSpPr>
        <p:spPr>
          <a:xfrm>
            <a:off x="3763640" y="304056"/>
            <a:ext cx="1616720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BEFORE YOU GO!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32"/>
          <p:cNvSpPr/>
          <p:nvPr/>
        </p:nvSpPr>
        <p:spPr>
          <a:xfrm>
            <a:off x="1335372" y="784027"/>
            <a:ext cx="647325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Please Fill Our Quick Survey 📋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32"/>
          <p:cNvSpPr/>
          <p:nvPr/>
        </p:nvSpPr>
        <p:spPr>
          <a:xfrm>
            <a:off x="3304325" y="1507925"/>
            <a:ext cx="2487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कृपया हाम्रो छोटो सर्वेक्षण भर्नुहोस्!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32"/>
          <p:cNvSpPr/>
          <p:nvPr/>
        </p:nvSpPr>
        <p:spPr>
          <a:xfrm>
            <a:off x="2895749" y="2205038"/>
            <a:ext cx="3352502" cy="2028527"/>
          </a:xfrm>
          <a:prstGeom prst="roundRect">
            <a:avLst>
              <a:gd fmla="val 751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32"/>
          <p:cNvSpPr/>
          <p:nvPr/>
        </p:nvSpPr>
        <p:spPr>
          <a:xfrm>
            <a:off x="3328568" y="2509838"/>
            <a:ext cx="2486864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Your feedback helps us improve! 🙏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32"/>
          <p:cNvSpPr/>
          <p:nvPr/>
        </p:nvSpPr>
        <p:spPr>
          <a:xfrm>
            <a:off x="3352949" y="2875508"/>
            <a:ext cx="2438102" cy="727621"/>
          </a:xfrm>
          <a:prstGeom prst="roundRect">
            <a:avLst>
              <a:gd fmla="val 10472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32"/>
          <p:cNvSpPr/>
          <p:nvPr/>
        </p:nvSpPr>
        <p:spPr>
          <a:xfrm>
            <a:off x="3484016" y="3027908"/>
            <a:ext cx="2175968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50"/>
              <a:buFont typeface="Arial"/>
              <a:buNone/>
            </a:pPr>
            <a:r>
              <a:rPr b="0" i="0" lang="en-US" sz="145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Survey link in chat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32"/>
          <p:cNvSpPr/>
          <p:nvPr/>
        </p:nvSpPr>
        <p:spPr>
          <a:xfrm>
            <a:off x="3394225" y="3290751"/>
            <a:ext cx="21759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32"/>
          <p:cNvSpPr/>
          <p:nvPr/>
        </p:nvSpPr>
        <p:spPr>
          <a:xfrm>
            <a:off x="3328568" y="3755529"/>
            <a:ext cx="2486864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Takes only 2-3 minutes! 💚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32"/>
          <p:cNvSpPr/>
          <p:nvPr/>
        </p:nvSpPr>
        <p:spPr>
          <a:xfrm>
            <a:off x="2189100" y="4614575"/>
            <a:ext cx="4858500" cy="1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Certificate of participation available for survey completers!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3A5F"/>
        </a:solidFill>
      </p:bgPr>
    </p:bg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33"/>
          <p:cNvSpPr/>
          <p:nvPr/>
        </p:nvSpPr>
        <p:spPr>
          <a:xfrm>
            <a:off x="2701007" y="260152"/>
            <a:ext cx="3741986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Thank </a:t>
            </a:r>
            <a:r>
              <a:rPr b="1" lang="en-US" sz="4200">
                <a:solidFill>
                  <a:srgbClr val="FFFFFF"/>
                </a:solidFill>
              </a:rPr>
              <a:t>you! </a:t>
            </a:r>
            <a:r>
              <a:rPr b="1" i="0" lang="en-US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🙏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33"/>
          <p:cNvSpPr/>
          <p:nvPr/>
        </p:nvSpPr>
        <p:spPr>
          <a:xfrm>
            <a:off x="3349000" y="1160950"/>
            <a:ext cx="19644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0" i="0" lang="en-US" sz="3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धन्यवाद!</a:t>
            </a:r>
            <a:endParaRPr b="0" i="0" sz="3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33"/>
          <p:cNvSpPr/>
          <p:nvPr/>
        </p:nvSpPr>
        <p:spPr>
          <a:xfrm>
            <a:off x="3349000" y="1848892"/>
            <a:ext cx="660806" cy="4799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33"/>
          <p:cNvSpPr/>
          <p:nvPr/>
        </p:nvSpPr>
        <p:spPr>
          <a:xfrm>
            <a:off x="3349000" y="2405063"/>
            <a:ext cx="660806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33"/>
          <p:cNvSpPr/>
          <p:nvPr/>
        </p:nvSpPr>
        <p:spPr>
          <a:xfrm>
            <a:off x="4301075" y="1848892"/>
            <a:ext cx="719402" cy="4799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33"/>
          <p:cNvSpPr/>
          <p:nvPr/>
        </p:nvSpPr>
        <p:spPr>
          <a:xfrm>
            <a:off x="4301075" y="2405063"/>
            <a:ext cx="719402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33"/>
          <p:cNvSpPr/>
          <p:nvPr/>
        </p:nvSpPr>
        <p:spPr>
          <a:xfrm>
            <a:off x="5313523" y="1848892"/>
            <a:ext cx="479551" cy="4799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1D1D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33"/>
          <p:cNvSpPr/>
          <p:nvPr/>
        </p:nvSpPr>
        <p:spPr>
          <a:xfrm>
            <a:off x="5313523" y="2405063"/>
            <a:ext cx="479551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33"/>
          <p:cNvSpPr/>
          <p:nvPr/>
        </p:nvSpPr>
        <p:spPr>
          <a:xfrm>
            <a:off x="2242500" y="2389663"/>
            <a:ext cx="5232600" cy="6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2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Special thanks to our expert speakers!</a:t>
            </a:r>
            <a:endParaRPr b="0" i="0" sz="2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33"/>
          <p:cNvSpPr/>
          <p:nvPr/>
        </p:nvSpPr>
        <p:spPr>
          <a:xfrm>
            <a:off x="3113038" y="3589883"/>
            <a:ext cx="2917775" cy="727621"/>
          </a:xfrm>
          <a:prstGeom prst="roundRect">
            <a:avLst>
              <a:gd fmla="val 15709" name="adj"/>
            </a:avLst>
          </a:pr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33"/>
          <p:cNvSpPr/>
          <p:nvPr/>
        </p:nvSpPr>
        <p:spPr>
          <a:xfrm>
            <a:off x="3113050" y="3768975"/>
            <a:ext cx="2917800" cy="1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FFFFFF"/>
                </a:solidFill>
              </a:rPr>
              <a:t>The recording</a:t>
            </a: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will be uploaded to YouTube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33"/>
          <p:cNvSpPr/>
          <p:nvPr/>
        </p:nvSpPr>
        <p:spPr>
          <a:xfrm>
            <a:off x="3394750" y="4005125"/>
            <a:ext cx="24786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Share with friends who couldn't attend! 📺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33"/>
          <p:cNvSpPr/>
          <p:nvPr/>
        </p:nvSpPr>
        <p:spPr>
          <a:xfrm>
            <a:off x="1032250" y="4704275"/>
            <a:ext cx="66030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Arial"/>
              <a:buNone/>
            </a:pPr>
            <a:r>
              <a:rPr b="0" i="0" lang="en-US" sz="14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National Health Action Force Nepal (NHAFN) | Mental Health Leadership Program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34"/>
          <p:cNvSpPr/>
          <p:nvPr/>
        </p:nvSpPr>
        <p:spPr>
          <a:xfrm>
            <a:off x="981365" y="615553"/>
            <a:ext cx="7181121" cy="5447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It's okay to not be okay sometimes.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4"/>
          <p:cNvSpPr/>
          <p:nvPr/>
        </p:nvSpPr>
        <p:spPr>
          <a:xfrm>
            <a:off x="2580650" y="1465075"/>
            <a:ext cx="3894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कहिलेकाहीं ठीक नहुनु ठीक छ।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34"/>
          <p:cNvSpPr/>
          <p:nvPr/>
        </p:nvSpPr>
        <p:spPr>
          <a:xfrm>
            <a:off x="3906025" y="2046490"/>
            <a:ext cx="1122300" cy="31500"/>
          </a:xfrm>
          <a:prstGeom prst="roundRect">
            <a:avLst>
              <a:gd fmla="val 66667" name="adj"/>
            </a:avLst>
          </a:prstGeom>
          <a:solidFill>
            <a:srgbClr val="FFFFFF">
              <a:alpha val="4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34"/>
          <p:cNvSpPr/>
          <p:nvPr/>
        </p:nvSpPr>
        <p:spPr>
          <a:xfrm>
            <a:off x="2714125" y="2522350"/>
            <a:ext cx="34884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matters is that you reach out.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34"/>
          <p:cNvSpPr/>
          <p:nvPr/>
        </p:nvSpPr>
        <p:spPr>
          <a:xfrm>
            <a:off x="2028925" y="2964200"/>
            <a:ext cx="4876500" cy="1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महत्त्वपूर्ण कुरा के हो भने तपाईंले सहयोग खोज्नुहुन्छ।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34"/>
          <p:cNvSpPr/>
          <p:nvPr/>
        </p:nvSpPr>
        <p:spPr>
          <a:xfrm>
            <a:off x="2401788" y="3493740"/>
            <a:ext cx="4340423" cy="544711"/>
          </a:xfrm>
          <a:prstGeom prst="roundRect">
            <a:avLst>
              <a:gd fmla="val 17486" name="adj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34"/>
          <p:cNvSpPr/>
          <p:nvPr/>
        </p:nvSpPr>
        <p:spPr>
          <a:xfrm>
            <a:off x="2669280" y="3646140"/>
            <a:ext cx="3805440" cy="239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💚 You matter. Your mental health matters. 💚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34"/>
          <p:cNvSpPr/>
          <p:nvPr/>
        </p:nvSpPr>
        <p:spPr>
          <a:xfrm>
            <a:off x="1681877" y="4343250"/>
            <a:ext cx="54993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Arial"/>
              <a:buNone/>
            </a:pPr>
            <a:r>
              <a:rPr b="0" i="0" lang="en-US" sz="1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Take care of yourself. See you next time! 👋</a:t>
            </a:r>
            <a:endParaRPr b="0" i="0" sz="1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